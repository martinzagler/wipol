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31"/>
  </p:notesMasterIdLst>
  <p:handoutMasterIdLst>
    <p:handoutMasterId r:id="rId32"/>
  </p:handoutMasterIdLst>
  <p:sldIdLst>
    <p:sldId id="402" r:id="rId2"/>
    <p:sldId id="508" r:id="rId3"/>
    <p:sldId id="509" r:id="rId4"/>
    <p:sldId id="510" r:id="rId5"/>
    <p:sldId id="511" r:id="rId6"/>
    <p:sldId id="512" r:id="rId7"/>
    <p:sldId id="513" r:id="rId8"/>
    <p:sldId id="514" r:id="rId9"/>
    <p:sldId id="520" r:id="rId10"/>
    <p:sldId id="515" r:id="rId11"/>
    <p:sldId id="532" r:id="rId12"/>
    <p:sldId id="516" r:id="rId13"/>
    <p:sldId id="517" r:id="rId14"/>
    <p:sldId id="521" r:id="rId15"/>
    <p:sldId id="533" r:id="rId16"/>
    <p:sldId id="518" r:id="rId17"/>
    <p:sldId id="519" r:id="rId18"/>
    <p:sldId id="522" r:id="rId19"/>
    <p:sldId id="406" r:id="rId20"/>
    <p:sldId id="523" r:id="rId21"/>
    <p:sldId id="524" r:id="rId22"/>
    <p:sldId id="525" r:id="rId23"/>
    <p:sldId id="526" r:id="rId24"/>
    <p:sldId id="527" r:id="rId25"/>
    <p:sldId id="528" r:id="rId26"/>
    <p:sldId id="529" r:id="rId27"/>
    <p:sldId id="530" r:id="rId28"/>
    <p:sldId id="531" r:id="rId29"/>
    <p:sldId id="435" r:id="rId3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2A7418-5721-6EA7-30B4-811436B91C1E}" name="Reiss, Lukas" initials="LR" userId="S::Lukas.Reiss@oenb.at::dcbdf5bb-0c0b-4087-b3a6-64b7c04c6435" providerId="AD"/>
  <p188:author id="{89F69093-FC96-4B1F-C826-299BD6692B5C}" name="Zagler, Martin" initials="MZ" userId="S::martin.zagler@wu.ac.at::e2c56a61-021d-414e-9a55-d5b903dcbe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6" autoAdjust="0"/>
    <p:restoredTop sz="94627"/>
  </p:normalViewPr>
  <p:slideViewPr>
    <p:cSldViewPr snapToGrid="0" snapToObjects="1">
      <p:cViewPr varScale="1">
        <p:scale>
          <a:sx n="116" d="100"/>
          <a:sy n="116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Zagler" userId="b8df48c8-7a6f-4253-beaa-a5a02814aa46" providerId="ADAL" clId="{84115472-3DAF-4AF5-AD33-CDC38226E1A0}"/>
    <pc:docChg chg="undo redo custSel addSld delSld modSld sldOrd">
      <pc:chgData name="Martin Zagler" userId="b8df48c8-7a6f-4253-beaa-a5a02814aa46" providerId="ADAL" clId="{84115472-3DAF-4AF5-AD33-CDC38226E1A0}" dt="2025-11-29T08:21:42.961" v="3947" actId="113"/>
      <pc:docMkLst>
        <pc:docMk/>
      </pc:docMkLst>
      <pc:sldChg chg="modSp mod">
        <pc:chgData name="Martin Zagler" userId="b8df48c8-7a6f-4253-beaa-a5a02814aa46" providerId="ADAL" clId="{84115472-3DAF-4AF5-AD33-CDC38226E1A0}" dt="2025-11-28T07:55:33.509" v="12" actId="20577"/>
        <pc:sldMkLst>
          <pc:docMk/>
          <pc:sldMk cId="166988481" sldId="402"/>
        </pc:sldMkLst>
        <pc:spChg chg="mod">
          <ac:chgData name="Martin Zagler" userId="b8df48c8-7a6f-4253-beaa-a5a02814aa46" providerId="ADAL" clId="{84115472-3DAF-4AF5-AD33-CDC38226E1A0}" dt="2025-11-28T07:55:33.509" v="12" actId="20577"/>
          <ac:spMkLst>
            <pc:docMk/>
            <pc:sldMk cId="166988481" sldId="402"/>
            <ac:spMk id="2" creationId="{00000000-0000-0000-0000-000000000000}"/>
          </ac:spMkLst>
        </pc:spChg>
      </pc:sldChg>
      <pc:sldChg chg="add">
        <pc:chgData name="Martin Zagler" userId="b8df48c8-7a6f-4253-beaa-a5a02814aa46" providerId="ADAL" clId="{84115472-3DAF-4AF5-AD33-CDC38226E1A0}" dt="2025-11-28T10:13:36.870" v="2924"/>
        <pc:sldMkLst>
          <pc:docMk/>
          <pc:sldMk cId="4158861591" sldId="406"/>
        </pc:sldMkLst>
      </pc:sldChg>
      <pc:sldChg chg="modSp mod">
        <pc:chgData name="Martin Zagler" userId="b8df48c8-7a6f-4253-beaa-a5a02814aa46" providerId="ADAL" clId="{84115472-3DAF-4AF5-AD33-CDC38226E1A0}" dt="2025-11-29T08:21:42.961" v="3947" actId="113"/>
        <pc:sldMkLst>
          <pc:docMk/>
          <pc:sldMk cId="294473802" sldId="435"/>
        </pc:sldMkLst>
        <pc:spChg chg="mod">
          <ac:chgData name="Martin Zagler" userId="b8df48c8-7a6f-4253-beaa-a5a02814aa46" providerId="ADAL" clId="{84115472-3DAF-4AF5-AD33-CDC38226E1A0}" dt="2025-11-29T08:21:42.961" v="3947" actId="113"/>
          <ac:spMkLst>
            <pc:docMk/>
            <pc:sldMk cId="294473802" sldId="435"/>
            <ac:spMk id="3" creationId="{00000000-0000-0000-0000-000000000000}"/>
          </ac:spMkLst>
        </pc:spChg>
      </pc:sldChg>
      <pc:sldChg chg="modSp add mod">
        <pc:chgData name="Martin Zagler" userId="b8df48c8-7a6f-4253-beaa-a5a02814aa46" providerId="ADAL" clId="{84115472-3DAF-4AF5-AD33-CDC38226E1A0}" dt="2025-11-28T07:59:56.502" v="181" actId="20577"/>
        <pc:sldMkLst>
          <pc:docMk/>
          <pc:sldMk cId="4269100473" sldId="508"/>
        </pc:sldMkLst>
        <pc:spChg chg="mod">
          <ac:chgData name="Martin Zagler" userId="b8df48c8-7a6f-4253-beaa-a5a02814aa46" providerId="ADAL" clId="{84115472-3DAF-4AF5-AD33-CDC38226E1A0}" dt="2025-11-28T07:59:56.502" v="181" actId="20577"/>
          <ac:spMkLst>
            <pc:docMk/>
            <pc:sldMk cId="4269100473" sldId="508"/>
            <ac:spMk id="2" creationId="{BFDC940E-48B0-A6A4-28AD-422F9A523703}"/>
          </ac:spMkLst>
        </pc:spChg>
        <pc:spChg chg="mod">
          <ac:chgData name="Martin Zagler" userId="b8df48c8-7a6f-4253-beaa-a5a02814aa46" providerId="ADAL" clId="{84115472-3DAF-4AF5-AD33-CDC38226E1A0}" dt="2025-11-28T07:59:23.319" v="155" actId="20577"/>
          <ac:spMkLst>
            <pc:docMk/>
            <pc:sldMk cId="4269100473" sldId="508"/>
            <ac:spMk id="3" creationId="{16AF65BC-5FE7-14AA-8505-10D11BB23AEE}"/>
          </ac:spMkLst>
        </pc:spChg>
      </pc:sldChg>
      <pc:sldChg chg="modSp add mod">
        <pc:chgData name="Martin Zagler" userId="b8df48c8-7a6f-4253-beaa-a5a02814aa46" providerId="ADAL" clId="{84115472-3DAF-4AF5-AD33-CDC38226E1A0}" dt="2025-11-28T08:04:25.714" v="566" actId="5793"/>
        <pc:sldMkLst>
          <pc:docMk/>
          <pc:sldMk cId="4233415495" sldId="509"/>
        </pc:sldMkLst>
        <pc:spChg chg="mod">
          <ac:chgData name="Martin Zagler" userId="b8df48c8-7a6f-4253-beaa-a5a02814aa46" providerId="ADAL" clId="{84115472-3DAF-4AF5-AD33-CDC38226E1A0}" dt="2025-11-28T08:00:21.315" v="223" actId="27636"/>
          <ac:spMkLst>
            <pc:docMk/>
            <pc:sldMk cId="4233415495" sldId="509"/>
            <ac:spMk id="2" creationId="{2C63045A-42F9-8DA4-3746-F708E2EC24AD}"/>
          </ac:spMkLst>
        </pc:spChg>
        <pc:spChg chg="mod">
          <ac:chgData name="Martin Zagler" userId="b8df48c8-7a6f-4253-beaa-a5a02814aa46" providerId="ADAL" clId="{84115472-3DAF-4AF5-AD33-CDC38226E1A0}" dt="2025-11-28T08:04:25.714" v="566" actId="5793"/>
          <ac:spMkLst>
            <pc:docMk/>
            <pc:sldMk cId="4233415495" sldId="509"/>
            <ac:spMk id="3" creationId="{EF99C6B9-FBAE-A4A5-8B15-619850BEA946}"/>
          </ac:spMkLst>
        </pc:spChg>
      </pc:sldChg>
      <pc:sldChg chg="addSp delSp modSp add mod">
        <pc:chgData name="Martin Zagler" userId="b8df48c8-7a6f-4253-beaa-a5a02814aa46" providerId="ADAL" clId="{84115472-3DAF-4AF5-AD33-CDC38226E1A0}" dt="2025-11-28T08:09:50.028" v="671" actId="113"/>
        <pc:sldMkLst>
          <pc:docMk/>
          <pc:sldMk cId="2091912005" sldId="510"/>
        </pc:sldMkLst>
        <pc:spChg chg="mod">
          <ac:chgData name="Martin Zagler" userId="b8df48c8-7a6f-4253-beaa-a5a02814aa46" providerId="ADAL" clId="{84115472-3DAF-4AF5-AD33-CDC38226E1A0}" dt="2025-11-28T08:04:54.561" v="582" actId="20577"/>
          <ac:spMkLst>
            <pc:docMk/>
            <pc:sldMk cId="2091912005" sldId="510"/>
            <ac:spMk id="2" creationId="{05CAD17B-D9F2-9283-56DC-092E6BE86BC2}"/>
          </ac:spMkLst>
        </pc:spChg>
        <pc:graphicFrameChg chg="add mod ord modGraphic">
          <ac:chgData name="Martin Zagler" userId="b8df48c8-7a6f-4253-beaa-a5a02814aa46" providerId="ADAL" clId="{84115472-3DAF-4AF5-AD33-CDC38226E1A0}" dt="2025-11-28T08:09:50.028" v="671" actId="113"/>
          <ac:graphicFrameMkLst>
            <pc:docMk/>
            <pc:sldMk cId="2091912005" sldId="510"/>
            <ac:graphicFrameMk id="4" creationId="{B9B07740-319A-34A8-7886-5002E5217647}"/>
          </ac:graphicFrameMkLst>
        </pc:graphicFrameChg>
      </pc:sldChg>
      <pc:sldChg chg="modSp add mod">
        <pc:chgData name="Martin Zagler" userId="b8df48c8-7a6f-4253-beaa-a5a02814aa46" providerId="ADAL" clId="{84115472-3DAF-4AF5-AD33-CDC38226E1A0}" dt="2025-11-28T08:15:02.812" v="808" actId="255"/>
        <pc:sldMkLst>
          <pc:docMk/>
          <pc:sldMk cId="3499372616" sldId="511"/>
        </pc:sldMkLst>
        <pc:spChg chg="mod">
          <ac:chgData name="Martin Zagler" userId="b8df48c8-7a6f-4253-beaa-a5a02814aa46" providerId="ADAL" clId="{84115472-3DAF-4AF5-AD33-CDC38226E1A0}" dt="2025-11-28T08:10:15.113" v="709" actId="20577"/>
          <ac:spMkLst>
            <pc:docMk/>
            <pc:sldMk cId="3499372616" sldId="511"/>
            <ac:spMk id="2" creationId="{A7A6C521-F93B-01E4-7577-B173912961BF}"/>
          </ac:spMkLst>
        </pc:spChg>
        <pc:spChg chg="mod">
          <ac:chgData name="Martin Zagler" userId="b8df48c8-7a6f-4253-beaa-a5a02814aa46" providerId="ADAL" clId="{84115472-3DAF-4AF5-AD33-CDC38226E1A0}" dt="2025-11-28T08:15:02.812" v="808" actId="255"/>
          <ac:spMkLst>
            <pc:docMk/>
            <pc:sldMk cId="3499372616" sldId="511"/>
            <ac:spMk id="3" creationId="{46736CD4-BDE4-8267-6B5D-9699E39A4445}"/>
          </ac:spMkLst>
        </pc:spChg>
      </pc:sldChg>
      <pc:sldChg chg="modSp add mod">
        <pc:chgData name="Martin Zagler" userId="b8df48c8-7a6f-4253-beaa-a5a02814aa46" providerId="ADAL" clId="{84115472-3DAF-4AF5-AD33-CDC38226E1A0}" dt="2025-11-28T08:21:27.601" v="1171" actId="108"/>
        <pc:sldMkLst>
          <pc:docMk/>
          <pc:sldMk cId="3968209085" sldId="512"/>
        </pc:sldMkLst>
        <pc:spChg chg="mod">
          <ac:chgData name="Martin Zagler" userId="b8df48c8-7a6f-4253-beaa-a5a02814aa46" providerId="ADAL" clId="{84115472-3DAF-4AF5-AD33-CDC38226E1A0}" dt="2025-11-28T08:15:24.154" v="824" actId="20577"/>
          <ac:spMkLst>
            <pc:docMk/>
            <pc:sldMk cId="3968209085" sldId="512"/>
            <ac:spMk id="2" creationId="{9F25B798-9446-BE25-98D2-DE55C12E9A52}"/>
          </ac:spMkLst>
        </pc:spChg>
        <pc:spChg chg="mod">
          <ac:chgData name="Martin Zagler" userId="b8df48c8-7a6f-4253-beaa-a5a02814aa46" providerId="ADAL" clId="{84115472-3DAF-4AF5-AD33-CDC38226E1A0}" dt="2025-11-28T08:21:27.601" v="1171" actId="108"/>
          <ac:spMkLst>
            <pc:docMk/>
            <pc:sldMk cId="3968209085" sldId="512"/>
            <ac:spMk id="3" creationId="{8CDD9B90-2C1E-016C-7AD2-2F14C3950438}"/>
          </ac:spMkLst>
        </pc:spChg>
      </pc:sldChg>
      <pc:sldChg chg="modSp add mod">
        <pc:chgData name="Martin Zagler" userId="b8df48c8-7a6f-4253-beaa-a5a02814aa46" providerId="ADAL" clId="{84115472-3DAF-4AF5-AD33-CDC38226E1A0}" dt="2025-11-28T08:24:23.081" v="1437" actId="20577"/>
        <pc:sldMkLst>
          <pc:docMk/>
          <pc:sldMk cId="552721323" sldId="513"/>
        </pc:sldMkLst>
        <pc:spChg chg="mod">
          <ac:chgData name="Martin Zagler" userId="b8df48c8-7a6f-4253-beaa-a5a02814aa46" providerId="ADAL" clId="{84115472-3DAF-4AF5-AD33-CDC38226E1A0}" dt="2025-11-28T08:21:45.772" v="1192" actId="20577"/>
          <ac:spMkLst>
            <pc:docMk/>
            <pc:sldMk cId="552721323" sldId="513"/>
            <ac:spMk id="2" creationId="{BD16A4B2-C3E6-0B5F-8696-29748B181984}"/>
          </ac:spMkLst>
        </pc:spChg>
        <pc:spChg chg="mod">
          <ac:chgData name="Martin Zagler" userId="b8df48c8-7a6f-4253-beaa-a5a02814aa46" providerId="ADAL" clId="{84115472-3DAF-4AF5-AD33-CDC38226E1A0}" dt="2025-11-28T08:24:23.081" v="1437" actId="20577"/>
          <ac:spMkLst>
            <pc:docMk/>
            <pc:sldMk cId="552721323" sldId="513"/>
            <ac:spMk id="3" creationId="{04A0455B-AEED-BFB6-38A4-09C56A5D4A8F}"/>
          </ac:spMkLst>
        </pc:spChg>
      </pc:sldChg>
      <pc:sldChg chg="modSp add mod">
        <pc:chgData name="Martin Zagler" userId="b8df48c8-7a6f-4253-beaa-a5a02814aa46" providerId="ADAL" clId="{84115472-3DAF-4AF5-AD33-CDC38226E1A0}" dt="2025-11-28T08:33:24.749" v="2027" actId="20577"/>
        <pc:sldMkLst>
          <pc:docMk/>
          <pc:sldMk cId="3962266074" sldId="514"/>
        </pc:sldMkLst>
        <pc:spChg chg="mod">
          <ac:chgData name="Martin Zagler" userId="b8df48c8-7a6f-4253-beaa-a5a02814aa46" providerId="ADAL" clId="{84115472-3DAF-4AF5-AD33-CDC38226E1A0}" dt="2025-11-28T08:24:38.776" v="1448" actId="20577"/>
          <ac:spMkLst>
            <pc:docMk/>
            <pc:sldMk cId="3962266074" sldId="514"/>
            <ac:spMk id="2" creationId="{FFCAABA3-1D7F-33DE-F6AC-17B4F5F2FAC8}"/>
          </ac:spMkLst>
        </pc:spChg>
        <pc:spChg chg="mod">
          <ac:chgData name="Martin Zagler" userId="b8df48c8-7a6f-4253-beaa-a5a02814aa46" providerId="ADAL" clId="{84115472-3DAF-4AF5-AD33-CDC38226E1A0}" dt="2025-11-28T08:33:24.749" v="2027" actId="20577"/>
          <ac:spMkLst>
            <pc:docMk/>
            <pc:sldMk cId="3962266074" sldId="514"/>
            <ac:spMk id="3" creationId="{52ED1FDA-0599-9420-136F-CCBF8CC6C556}"/>
          </ac:spMkLst>
        </pc:spChg>
      </pc:sldChg>
      <pc:sldChg chg="modSp add mod">
        <pc:chgData name="Martin Zagler" userId="b8df48c8-7a6f-4253-beaa-a5a02814aa46" providerId="ADAL" clId="{84115472-3DAF-4AF5-AD33-CDC38226E1A0}" dt="2025-11-28T08:38:22.792" v="2305" actId="20577"/>
        <pc:sldMkLst>
          <pc:docMk/>
          <pc:sldMk cId="1604544294" sldId="515"/>
        </pc:sldMkLst>
        <pc:spChg chg="mod">
          <ac:chgData name="Martin Zagler" userId="b8df48c8-7a6f-4253-beaa-a5a02814aa46" providerId="ADAL" clId="{84115472-3DAF-4AF5-AD33-CDC38226E1A0}" dt="2025-11-28T08:33:44.020" v="2036" actId="20577"/>
          <ac:spMkLst>
            <pc:docMk/>
            <pc:sldMk cId="1604544294" sldId="515"/>
            <ac:spMk id="2" creationId="{313E169E-4C85-52B6-4C23-C3B67FD1D5FE}"/>
          </ac:spMkLst>
        </pc:spChg>
        <pc:spChg chg="mod">
          <ac:chgData name="Martin Zagler" userId="b8df48c8-7a6f-4253-beaa-a5a02814aa46" providerId="ADAL" clId="{84115472-3DAF-4AF5-AD33-CDC38226E1A0}" dt="2025-11-28T08:38:22.792" v="2305" actId="20577"/>
          <ac:spMkLst>
            <pc:docMk/>
            <pc:sldMk cId="1604544294" sldId="515"/>
            <ac:spMk id="3" creationId="{75910147-CDDC-2995-AA6E-D359AC23D1E7}"/>
          </ac:spMkLst>
        </pc:spChg>
      </pc:sldChg>
      <pc:sldChg chg="addSp delSp modSp add mod">
        <pc:chgData name="Martin Zagler" userId="b8df48c8-7a6f-4253-beaa-a5a02814aa46" providerId="ADAL" clId="{84115472-3DAF-4AF5-AD33-CDC38226E1A0}" dt="2025-11-28T09:53:03.608" v="2484" actId="20577"/>
        <pc:sldMkLst>
          <pc:docMk/>
          <pc:sldMk cId="1993354786" sldId="516"/>
        </pc:sldMkLst>
        <pc:spChg chg="mod">
          <ac:chgData name="Martin Zagler" userId="b8df48c8-7a6f-4253-beaa-a5a02814aa46" providerId="ADAL" clId="{84115472-3DAF-4AF5-AD33-CDC38226E1A0}" dt="2025-11-28T08:40:04.324" v="2370" actId="20577"/>
          <ac:spMkLst>
            <pc:docMk/>
            <pc:sldMk cId="1993354786" sldId="516"/>
            <ac:spMk id="2" creationId="{4D5E7AAE-A899-29F7-2D59-2996C07805EB}"/>
          </ac:spMkLst>
        </pc:spChg>
        <pc:graphicFrameChg chg="add mod ord modGraphic">
          <ac:chgData name="Martin Zagler" userId="b8df48c8-7a6f-4253-beaa-a5a02814aa46" providerId="ADAL" clId="{84115472-3DAF-4AF5-AD33-CDC38226E1A0}" dt="2025-11-28T09:53:03.608" v="2484" actId="20577"/>
          <ac:graphicFrameMkLst>
            <pc:docMk/>
            <pc:sldMk cId="1993354786" sldId="516"/>
            <ac:graphicFrameMk id="4" creationId="{B9696853-14DF-E93A-4981-8E5FBB911069}"/>
          </ac:graphicFrameMkLst>
        </pc:graphicFrameChg>
      </pc:sldChg>
      <pc:sldChg chg="modSp add mod">
        <pc:chgData name="Martin Zagler" userId="b8df48c8-7a6f-4253-beaa-a5a02814aa46" providerId="ADAL" clId="{84115472-3DAF-4AF5-AD33-CDC38226E1A0}" dt="2025-11-28T09:53:10.864" v="2492" actId="20577"/>
        <pc:sldMkLst>
          <pc:docMk/>
          <pc:sldMk cId="3597169286" sldId="517"/>
        </pc:sldMkLst>
        <pc:graphicFrameChg chg="mod modGraphic">
          <ac:chgData name="Martin Zagler" userId="b8df48c8-7a6f-4253-beaa-a5a02814aa46" providerId="ADAL" clId="{84115472-3DAF-4AF5-AD33-CDC38226E1A0}" dt="2025-11-28T09:53:10.864" v="2492" actId="20577"/>
          <ac:graphicFrameMkLst>
            <pc:docMk/>
            <pc:sldMk cId="3597169286" sldId="517"/>
            <ac:graphicFrameMk id="4" creationId="{39BFD58E-F3B8-D52E-F702-9B7D9911CBDD}"/>
          </ac:graphicFrameMkLst>
        </pc:graphicFrameChg>
      </pc:sldChg>
      <pc:sldChg chg="modSp add mod">
        <pc:chgData name="Martin Zagler" userId="b8df48c8-7a6f-4253-beaa-a5a02814aa46" providerId="ADAL" clId="{84115472-3DAF-4AF5-AD33-CDC38226E1A0}" dt="2025-11-28T09:54:16.947" v="2505" actId="113"/>
        <pc:sldMkLst>
          <pc:docMk/>
          <pc:sldMk cId="696781368" sldId="518"/>
        </pc:sldMkLst>
        <pc:spChg chg="mod">
          <ac:chgData name="Martin Zagler" userId="b8df48c8-7a6f-4253-beaa-a5a02814aa46" providerId="ADAL" clId="{84115472-3DAF-4AF5-AD33-CDC38226E1A0}" dt="2025-11-28T09:51:54.182" v="2469" actId="27636"/>
          <ac:spMkLst>
            <pc:docMk/>
            <pc:sldMk cId="696781368" sldId="518"/>
            <ac:spMk id="2" creationId="{436BD0D9-845F-D5F9-2333-99805770E4C7}"/>
          </ac:spMkLst>
        </pc:spChg>
        <pc:graphicFrameChg chg="mod modGraphic">
          <ac:chgData name="Martin Zagler" userId="b8df48c8-7a6f-4253-beaa-a5a02814aa46" providerId="ADAL" clId="{84115472-3DAF-4AF5-AD33-CDC38226E1A0}" dt="2025-11-28T09:54:16.947" v="2505" actId="113"/>
          <ac:graphicFrameMkLst>
            <pc:docMk/>
            <pc:sldMk cId="696781368" sldId="518"/>
            <ac:graphicFrameMk id="4" creationId="{B9D14F5B-D94F-5D46-7022-1FF63EDF1D0D}"/>
          </ac:graphicFrameMkLst>
        </pc:graphicFrameChg>
      </pc:sldChg>
      <pc:sldChg chg="modSp add mod">
        <pc:chgData name="Martin Zagler" userId="b8df48c8-7a6f-4253-beaa-a5a02814aa46" providerId="ADAL" clId="{84115472-3DAF-4AF5-AD33-CDC38226E1A0}" dt="2025-11-28T10:01:44.854" v="2561" actId="113"/>
        <pc:sldMkLst>
          <pc:docMk/>
          <pc:sldMk cId="2869199502" sldId="519"/>
        </pc:sldMkLst>
        <pc:spChg chg="mod">
          <ac:chgData name="Martin Zagler" userId="b8df48c8-7a6f-4253-beaa-a5a02814aa46" providerId="ADAL" clId="{84115472-3DAF-4AF5-AD33-CDC38226E1A0}" dt="2025-11-28T09:56:49.760" v="2518" actId="20577"/>
          <ac:spMkLst>
            <pc:docMk/>
            <pc:sldMk cId="2869199502" sldId="519"/>
            <ac:spMk id="2" creationId="{C1AD5D2D-8E1B-7B8E-ACC1-496D853A5BE5}"/>
          </ac:spMkLst>
        </pc:spChg>
        <pc:graphicFrameChg chg="mod modGraphic">
          <ac:chgData name="Martin Zagler" userId="b8df48c8-7a6f-4253-beaa-a5a02814aa46" providerId="ADAL" clId="{84115472-3DAF-4AF5-AD33-CDC38226E1A0}" dt="2025-11-28T10:01:44.854" v="2561" actId="113"/>
          <ac:graphicFrameMkLst>
            <pc:docMk/>
            <pc:sldMk cId="2869199502" sldId="519"/>
            <ac:graphicFrameMk id="4" creationId="{EF55BF4A-2B54-C705-14F0-78ED3A328C37}"/>
          </ac:graphicFrameMkLst>
        </pc:graphicFrameChg>
      </pc:sldChg>
      <pc:sldChg chg="addSp delSp modSp add mod">
        <pc:chgData name="Martin Zagler" userId="b8df48c8-7a6f-4253-beaa-a5a02814aa46" providerId="ADAL" clId="{84115472-3DAF-4AF5-AD33-CDC38226E1A0}" dt="2025-11-28T10:04:07.828" v="2576"/>
        <pc:sldMkLst>
          <pc:docMk/>
          <pc:sldMk cId="383800759" sldId="520"/>
        </pc:sldMkLst>
        <pc:spChg chg="mod">
          <ac:chgData name="Martin Zagler" userId="b8df48c8-7a6f-4253-beaa-a5a02814aa46" providerId="ADAL" clId="{84115472-3DAF-4AF5-AD33-CDC38226E1A0}" dt="2025-11-28T10:04:07.828" v="2576"/>
          <ac:spMkLst>
            <pc:docMk/>
            <pc:sldMk cId="383800759" sldId="520"/>
            <ac:spMk id="2" creationId="{24310422-8127-C822-E450-11730372DB79}"/>
          </ac:spMkLst>
        </pc:spChg>
      </pc:sldChg>
      <pc:sldChg chg="addSp delSp modSp add mod ord">
        <pc:chgData name="Martin Zagler" userId="b8df48c8-7a6f-4253-beaa-a5a02814aa46" providerId="ADAL" clId="{84115472-3DAF-4AF5-AD33-CDC38226E1A0}" dt="2025-11-28T10:04:29.624" v="2581" actId="26606"/>
        <pc:sldMkLst>
          <pc:docMk/>
          <pc:sldMk cId="928749501" sldId="521"/>
        </pc:sldMkLst>
        <pc:spChg chg="mod">
          <ac:chgData name="Martin Zagler" userId="b8df48c8-7a6f-4253-beaa-a5a02814aa46" providerId="ADAL" clId="{84115472-3DAF-4AF5-AD33-CDC38226E1A0}" dt="2025-11-28T10:04:29.624" v="2581" actId="26606"/>
          <ac:spMkLst>
            <pc:docMk/>
            <pc:sldMk cId="928749501" sldId="521"/>
            <ac:spMk id="2" creationId="{B65A39A5-D346-113A-F193-DE361DABA993}"/>
          </ac:spMkLst>
        </pc:spChg>
      </pc:sldChg>
      <pc:sldChg chg="modSp add mod">
        <pc:chgData name="Martin Zagler" userId="b8df48c8-7a6f-4253-beaa-a5a02814aa46" providerId="ADAL" clId="{84115472-3DAF-4AF5-AD33-CDC38226E1A0}" dt="2025-11-28T10:18:50.752" v="3137" actId="20577"/>
        <pc:sldMkLst>
          <pc:docMk/>
          <pc:sldMk cId="1874486266" sldId="522"/>
        </pc:sldMkLst>
        <pc:spChg chg="mod">
          <ac:chgData name="Martin Zagler" userId="b8df48c8-7a6f-4253-beaa-a5a02814aa46" providerId="ADAL" clId="{84115472-3DAF-4AF5-AD33-CDC38226E1A0}" dt="2025-11-28T10:04:52.141" v="2607" actId="20577"/>
          <ac:spMkLst>
            <pc:docMk/>
            <pc:sldMk cId="1874486266" sldId="522"/>
            <ac:spMk id="2" creationId="{B926A195-DABC-F481-61EA-2CD1D09A7809}"/>
          </ac:spMkLst>
        </pc:spChg>
        <pc:spChg chg="mod">
          <ac:chgData name="Martin Zagler" userId="b8df48c8-7a6f-4253-beaa-a5a02814aa46" providerId="ADAL" clId="{84115472-3DAF-4AF5-AD33-CDC38226E1A0}" dt="2025-11-28T10:18:50.752" v="3137" actId="20577"/>
          <ac:spMkLst>
            <pc:docMk/>
            <pc:sldMk cId="1874486266" sldId="522"/>
            <ac:spMk id="3" creationId="{C3ACE9B1-C079-7BEC-D6A3-C76DC2C838A7}"/>
          </ac:spMkLst>
        </pc:spChg>
      </pc:sldChg>
      <pc:sldChg chg="modSp add mod">
        <pc:chgData name="Martin Zagler" userId="b8df48c8-7a6f-4253-beaa-a5a02814aa46" providerId="ADAL" clId="{84115472-3DAF-4AF5-AD33-CDC38226E1A0}" dt="2025-11-28T10:18:44.753" v="3135" actId="20577"/>
        <pc:sldMkLst>
          <pc:docMk/>
          <pc:sldMk cId="2167552865" sldId="523"/>
        </pc:sldMkLst>
        <pc:spChg chg="mod">
          <ac:chgData name="Martin Zagler" userId="b8df48c8-7a6f-4253-beaa-a5a02814aa46" providerId="ADAL" clId="{84115472-3DAF-4AF5-AD33-CDC38226E1A0}" dt="2025-11-28T10:18:44.753" v="3135" actId="20577"/>
          <ac:spMkLst>
            <pc:docMk/>
            <pc:sldMk cId="2167552865" sldId="523"/>
            <ac:spMk id="3" creationId="{993EFD39-014A-BA25-9074-5ACF2A34376B}"/>
          </ac:spMkLst>
        </pc:spChg>
      </pc:sldChg>
      <pc:sldChg chg="modSp add mod">
        <pc:chgData name="Martin Zagler" userId="b8df48c8-7a6f-4253-beaa-a5a02814aa46" providerId="ADAL" clId="{84115472-3DAF-4AF5-AD33-CDC38226E1A0}" dt="2025-11-28T10:24:39.103" v="3347" actId="20577"/>
        <pc:sldMkLst>
          <pc:docMk/>
          <pc:sldMk cId="1815224930" sldId="524"/>
        </pc:sldMkLst>
        <pc:spChg chg="mod">
          <ac:chgData name="Martin Zagler" userId="b8df48c8-7a6f-4253-beaa-a5a02814aa46" providerId="ADAL" clId="{84115472-3DAF-4AF5-AD33-CDC38226E1A0}" dt="2025-11-28T10:24:39.103" v="3347" actId="20577"/>
          <ac:spMkLst>
            <pc:docMk/>
            <pc:sldMk cId="1815224930" sldId="524"/>
            <ac:spMk id="3" creationId="{EE65DBE9-4028-78EE-8815-898ABB9A09BF}"/>
          </ac:spMkLst>
        </pc:spChg>
      </pc:sldChg>
      <pc:sldChg chg="addSp delSp modSp add mod">
        <pc:chgData name="Martin Zagler" userId="b8df48c8-7a6f-4253-beaa-a5a02814aa46" providerId="ADAL" clId="{84115472-3DAF-4AF5-AD33-CDC38226E1A0}" dt="2025-11-28T10:25:17.800" v="3370" actId="26606"/>
        <pc:sldMkLst>
          <pc:docMk/>
          <pc:sldMk cId="3836735403" sldId="525"/>
        </pc:sldMkLst>
        <pc:spChg chg="mod">
          <ac:chgData name="Martin Zagler" userId="b8df48c8-7a6f-4253-beaa-a5a02814aa46" providerId="ADAL" clId="{84115472-3DAF-4AF5-AD33-CDC38226E1A0}" dt="2025-11-28T10:25:07.991" v="3365" actId="20577"/>
          <ac:spMkLst>
            <pc:docMk/>
            <pc:sldMk cId="3836735403" sldId="525"/>
            <ac:spMk id="2" creationId="{B01168E7-3F88-DE3F-09E0-FB3B0CABC5E2}"/>
          </ac:spMkLst>
        </pc:spChg>
      </pc:sldChg>
      <pc:sldChg chg="modSp add mod">
        <pc:chgData name="Martin Zagler" userId="b8df48c8-7a6f-4253-beaa-a5a02814aa46" providerId="ADAL" clId="{84115472-3DAF-4AF5-AD33-CDC38226E1A0}" dt="2025-11-28T10:29:06.320" v="3507" actId="20577"/>
        <pc:sldMkLst>
          <pc:docMk/>
          <pc:sldMk cId="2978019814" sldId="526"/>
        </pc:sldMkLst>
        <pc:spChg chg="mod">
          <ac:chgData name="Martin Zagler" userId="b8df48c8-7a6f-4253-beaa-a5a02814aa46" providerId="ADAL" clId="{84115472-3DAF-4AF5-AD33-CDC38226E1A0}" dt="2025-11-28T10:29:06.320" v="3507" actId="20577"/>
          <ac:spMkLst>
            <pc:docMk/>
            <pc:sldMk cId="2978019814" sldId="526"/>
            <ac:spMk id="3" creationId="{4B64CE89-8963-960E-90CF-2EA0715887B9}"/>
          </ac:spMkLst>
        </pc:spChg>
      </pc:sldChg>
      <pc:sldChg chg="addSp delSp modSp add mod">
        <pc:chgData name="Martin Zagler" userId="b8df48c8-7a6f-4253-beaa-a5a02814aa46" providerId="ADAL" clId="{84115472-3DAF-4AF5-AD33-CDC38226E1A0}" dt="2025-11-28T10:30:15.857" v="3561" actId="20577"/>
        <pc:sldMkLst>
          <pc:docMk/>
          <pc:sldMk cId="49154505" sldId="527"/>
        </pc:sldMkLst>
        <pc:spChg chg="mod">
          <ac:chgData name="Martin Zagler" userId="b8df48c8-7a6f-4253-beaa-a5a02814aa46" providerId="ADAL" clId="{84115472-3DAF-4AF5-AD33-CDC38226E1A0}" dt="2025-11-28T10:30:15.857" v="3561" actId="20577"/>
          <ac:spMkLst>
            <pc:docMk/>
            <pc:sldMk cId="49154505" sldId="527"/>
            <ac:spMk id="2" creationId="{398549E5-A838-B927-5399-3403D1B236A1}"/>
          </ac:spMkLst>
        </pc:spChg>
        <pc:picChg chg="add mod">
          <ac:chgData name="Martin Zagler" userId="b8df48c8-7a6f-4253-beaa-a5a02814aa46" providerId="ADAL" clId="{84115472-3DAF-4AF5-AD33-CDC38226E1A0}" dt="2025-11-28T10:29:49.670" v="3539" actId="26606"/>
          <ac:picMkLst>
            <pc:docMk/>
            <pc:sldMk cId="49154505" sldId="527"/>
            <ac:picMk id="5" creationId="{088423A7-3E8C-CAAF-5CBF-FD501EBE85EB}"/>
          </ac:picMkLst>
        </pc:picChg>
      </pc:sldChg>
      <pc:sldChg chg="addSp delSp modSp add mod">
        <pc:chgData name="Martin Zagler" userId="b8df48c8-7a6f-4253-beaa-a5a02814aa46" providerId="ADAL" clId="{84115472-3DAF-4AF5-AD33-CDC38226E1A0}" dt="2025-11-28T10:30:37.506" v="3571" actId="26606"/>
        <pc:sldMkLst>
          <pc:docMk/>
          <pc:sldMk cId="3403587047" sldId="528"/>
        </pc:sldMkLst>
        <pc:spChg chg="mod">
          <ac:chgData name="Martin Zagler" userId="b8df48c8-7a6f-4253-beaa-a5a02814aa46" providerId="ADAL" clId="{84115472-3DAF-4AF5-AD33-CDC38226E1A0}" dt="2025-11-28T10:30:25.220" v="3566" actId="20577"/>
          <ac:spMkLst>
            <pc:docMk/>
            <pc:sldMk cId="3403587047" sldId="528"/>
            <ac:spMk id="2" creationId="{A7E67FAC-45E3-5141-6B3F-D05A0A486217}"/>
          </ac:spMkLst>
        </pc:spChg>
        <pc:picChg chg="add mod">
          <ac:chgData name="Martin Zagler" userId="b8df48c8-7a6f-4253-beaa-a5a02814aa46" providerId="ADAL" clId="{84115472-3DAF-4AF5-AD33-CDC38226E1A0}" dt="2025-11-28T10:30:37.506" v="3571" actId="26606"/>
          <ac:picMkLst>
            <pc:docMk/>
            <pc:sldMk cId="3403587047" sldId="528"/>
            <ac:picMk id="4" creationId="{BFC74BA2-2B83-03C5-FF91-F0EDF47A1298}"/>
          </ac:picMkLst>
        </pc:picChg>
      </pc:sldChg>
      <pc:sldChg chg="addSp delSp modSp add mod">
        <pc:chgData name="Martin Zagler" userId="b8df48c8-7a6f-4253-beaa-a5a02814aa46" providerId="ADAL" clId="{84115472-3DAF-4AF5-AD33-CDC38226E1A0}" dt="2025-11-28T10:31:13.138" v="3613" actId="26606"/>
        <pc:sldMkLst>
          <pc:docMk/>
          <pc:sldMk cId="1725308888" sldId="529"/>
        </pc:sldMkLst>
        <pc:spChg chg="mod">
          <ac:chgData name="Martin Zagler" userId="b8df48c8-7a6f-4253-beaa-a5a02814aa46" providerId="ADAL" clId="{84115472-3DAF-4AF5-AD33-CDC38226E1A0}" dt="2025-11-28T10:31:03.991" v="3607" actId="20577"/>
          <ac:spMkLst>
            <pc:docMk/>
            <pc:sldMk cId="1725308888" sldId="529"/>
            <ac:spMk id="2" creationId="{B6DD4596-AE45-54C3-22CC-2DA68CE00E75}"/>
          </ac:spMkLst>
        </pc:spChg>
      </pc:sldChg>
      <pc:sldChg chg="addSp delSp modSp add mod">
        <pc:chgData name="Martin Zagler" userId="b8df48c8-7a6f-4253-beaa-a5a02814aa46" providerId="ADAL" clId="{84115472-3DAF-4AF5-AD33-CDC38226E1A0}" dt="2025-11-28T10:31:51.672" v="3640" actId="26606"/>
        <pc:sldMkLst>
          <pc:docMk/>
          <pc:sldMk cId="2729098705" sldId="530"/>
        </pc:sldMkLst>
        <pc:spChg chg="mod">
          <ac:chgData name="Martin Zagler" userId="b8df48c8-7a6f-4253-beaa-a5a02814aa46" providerId="ADAL" clId="{84115472-3DAF-4AF5-AD33-CDC38226E1A0}" dt="2025-11-28T10:31:42.540" v="3635" actId="20577"/>
          <ac:spMkLst>
            <pc:docMk/>
            <pc:sldMk cId="2729098705" sldId="530"/>
            <ac:spMk id="2" creationId="{EB3D8989-AE88-502C-A2F6-B870ADFA3BF7}"/>
          </ac:spMkLst>
        </pc:spChg>
      </pc:sldChg>
      <pc:sldChg chg="modSp add mod">
        <pc:chgData name="Martin Zagler" userId="b8df48c8-7a6f-4253-beaa-a5a02814aa46" providerId="ADAL" clId="{84115472-3DAF-4AF5-AD33-CDC38226E1A0}" dt="2025-11-28T10:47:42.497" v="3945" actId="20577"/>
        <pc:sldMkLst>
          <pc:docMk/>
          <pc:sldMk cId="3107927881" sldId="531"/>
        </pc:sldMkLst>
        <pc:spChg chg="mod">
          <ac:chgData name="Martin Zagler" userId="b8df48c8-7a6f-4253-beaa-a5a02814aa46" providerId="ADAL" clId="{84115472-3DAF-4AF5-AD33-CDC38226E1A0}" dt="2025-11-28T10:32:31.082" v="3652" actId="20577"/>
          <ac:spMkLst>
            <pc:docMk/>
            <pc:sldMk cId="3107927881" sldId="531"/>
            <ac:spMk id="2" creationId="{E525ACD2-906E-B473-74CA-B68FD62B7382}"/>
          </ac:spMkLst>
        </pc:spChg>
        <pc:spChg chg="mod">
          <ac:chgData name="Martin Zagler" userId="b8df48c8-7a6f-4253-beaa-a5a02814aa46" providerId="ADAL" clId="{84115472-3DAF-4AF5-AD33-CDC38226E1A0}" dt="2025-11-28T10:47:42.497" v="3945" actId="20577"/>
          <ac:spMkLst>
            <pc:docMk/>
            <pc:sldMk cId="3107927881" sldId="531"/>
            <ac:spMk id="3" creationId="{A6292323-AA12-03AE-8E6F-2272F849C714}"/>
          </ac:spMkLst>
        </pc:spChg>
      </pc:sldChg>
    </pc:docChg>
  </pc:docChgLst>
  <pc:docChgLst>
    <pc:chgData name="Martin Zagler" userId="b8df48c8-7a6f-4253-beaa-a5a02814aa46" providerId="ADAL" clId="{24A7CB53-EA5E-4145-A803-DE74CA235E06}"/>
    <pc:docChg chg="custSel modSld">
      <pc:chgData name="Martin Zagler" userId="b8df48c8-7a6f-4253-beaa-a5a02814aa46" providerId="ADAL" clId="{24A7CB53-EA5E-4145-A803-DE74CA235E06}" dt="2025-12-22T13:49:24.999" v="1" actId="27636"/>
      <pc:docMkLst>
        <pc:docMk/>
      </pc:docMkLst>
      <pc:sldChg chg="modSp mod modCm">
        <pc:chgData name="Martin Zagler" userId="b8df48c8-7a6f-4253-beaa-a5a02814aa46" providerId="ADAL" clId="{24A7CB53-EA5E-4145-A803-DE74CA235E06}" dt="2025-12-22T13:49:24.999" v="1" actId="27636"/>
        <pc:sldMkLst>
          <pc:docMk/>
          <pc:sldMk cId="1604544294" sldId="515"/>
        </pc:sldMkLst>
        <pc:spChg chg="mod">
          <ac:chgData name="Martin Zagler" userId="b8df48c8-7a6f-4253-beaa-a5a02814aa46" providerId="ADAL" clId="{24A7CB53-EA5E-4145-A803-DE74CA235E06}" dt="2025-12-22T13:49:24.999" v="1" actId="27636"/>
          <ac:spMkLst>
            <pc:docMk/>
            <pc:sldMk cId="1604544294" sldId="515"/>
            <ac:spMk id="3" creationId="{75910147-CDDC-2995-AA6E-D359AC23D1E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tin Zagler" userId="b8df48c8-7a6f-4253-beaa-a5a02814aa46" providerId="ADAL" clId="{24A7CB53-EA5E-4145-A803-DE74CA235E06}" dt="2025-12-22T13:49:24.985" v="0" actId="20577"/>
              <pc2:cmMkLst xmlns:pc2="http://schemas.microsoft.com/office/powerpoint/2019/9/main/command">
                <pc:docMk/>
                <pc:sldMk cId="1604544294" sldId="515"/>
                <pc2:cmMk id="{C47F7B42-EEAC-4AE5-8743-3976D66C2756}"/>
              </pc2:cmMkLst>
            </pc226:cmChg>
          </p:ext>
        </pc:ext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C605-F623-9248-8614-488C6C0BC055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A095-FC30-C34A-A433-DF2F8B54495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71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AE9-7988-B949-AC6A-C9E3A484A45B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8BFC-7043-644E-AB44-F7E1B889F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84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9906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1" name="Oval 5"/>
          <p:cNvSpPr/>
          <p:nvPr/>
        </p:nvSpPr>
        <p:spPr>
          <a:xfrm>
            <a:off x="-1" y="1"/>
            <a:ext cx="9906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4960137"/>
            <a:ext cx="6315075" cy="1463040"/>
          </a:xfrm>
          <a:noFill/>
        </p:spPr>
        <p:txBody>
          <a:bodyPr anchor="ctr">
            <a:normAutofit/>
          </a:bodyPr>
          <a:lstStyle>
            <a:lvl1pPr algn="r">
              <a:defRPr sz="3600" b="0" spc="16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96113" y="4960137"/>
            <a:ext cx="2600325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71475" indent="0" algn="ctr">
              <a:buNone/>
              <a:defRPr sz="1463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463"/>
            </a:lvl4pPr>
            <a:lvl5pPr marL="1485900" indent="0" algn="ctr">
              <a:buNone/>
              <a:defRPr sz="1463"/>
            </a:lvl5pPr>
            <a:lvl6pPr marL="1857375" indent="0" algn="ctr">
              <a:buNone/>
              <a:defRPr sz="1463"/>
            </a:lvl6pPr>
            <a:lvl7pPr marL="2228850" indent="0" algn="ctr">
              <a:buNone/>
              <a:defRPr sz="1463"/>
            </a:lvl7pPr>
            <a:lvl8pPr marL="2600325" indent="0" algn="ctr">
              <a:buNone/>
              <a:defRPr sz="1463"/>
            </a:lvl8pPr>
            <a:lvl9pPr marL="2971800" indent="0" algn="ctr">
              <a:buNone/>
              <a:defRPr sz="1463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14310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1299" y="1027417"/>
            <a:ext cx="9501871" cy="5508850"/>
          </a:xfr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 sz="24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60363" indent="-2571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38353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57225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631508" indent="-111443">
              <a:buFont typeface="Wingdings" panose="05000000000000000000" pitchFamily="2" charset="2"/>
              <a:buChar char="§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A8152E3-B34A-9DBD-C9FF-A1266E31A0D4}"/>
              </a:ext>
            </a:extLst>
          </p:cNvPr>
          <p:cNvSpPr txBox="1">
            <a:spLocks/>
          </p:cNvSpPr>
          <p:nvPr userDrawn="1"/>
        </p:nvSpPr>
        <p:spPr>
          <a:xfrm>
            <a:off x="9323394" y="0"/>
            <a:ext cx="571976" cy="8116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b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 algn="ctr"/>
              <a:t>‹Nr.›</a:t>
            </a:fld>
            <a:b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1400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XX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BD9485D-D026-A5CE-DC8B-FA2182F36DAA}"/>
              </a:ext>
            </a:extLst>
          </p:cNvPr>
          <p:cNvCxnSpPr/>
          <p:nvPr userDrawn="1"/>
        </p:nvCxnSpPr>
        <p:spPr>
          <a:xfrm>
            <a:off x="9481803" y="406480"/>
            <a:ext cx="25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5" y="585216"/>
            <a:ext cx="4975522" cy="1499616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2103" y="2468428"/>
            <a:ext cx="3863340" cy="4056549"/>
          </a:xfrm>
          <a:solidFill>
            <a:schemeClr val="bg1"/>
          </a:solidFill>
        </p:spPr>
        <p:txBody>
          <a:bodyPr/>
          <a:lstStyle>
            <a:lvl1pPr>
              <a:defRPr sz="1800">
                <a:latin typeface="Calibri" charset="0"/>
                <a:ea typeface="Calibri" charset="0"/>
                <a:cs typeface="Calibri" charset="0"/>
              </a:defRPr>
            </a:lvl1pPr>
            <a:lvl2pPr>
              <a:defRPr sz="1600">
                <a:latin typeface="Calibri" charset="0"/>
                <a:ea typeface="Calibri" charset="0"/>
                <a:cs typeface="Calibri" charset="0"/>
              </a:defRPr>
            </a:lvl2pPr>
            <a:lvl3pPr>
              <a:defRPr sz="1400">
                <a:latin typeface="Calibri" charset="0"/>
                <a:ea typeface="Calibri" charset="0"/>
                <a:cs typeface="Calibri" charset="0"/>
              </a:defRPr>
            </a:lvl3pPr>
            <a:lvl4pPr>
              <a:defRPr sz="1200">
                <a:latin typeface="Calibri" charset="0"/>
                <a:ea typeface="Calibri" charset="0"/>
                <a:cs typeface="Calibri" charset="0"/>
              </a:defRPr>
            </a:lvl4pPr>
            <a:lvl5pPr>
              <a:defRPr sz="11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6323" y="2468429"/>
            <a:ext cx="3863340" cy="4056548"/>
          </a:xfrm>
          <a:solidFill>
            <a:schemeClr val="bg1"/>
          </a:solidFill>
        </p:spPr>
        <p:txBody>
          <a:bodyPr/>
          <a:lstStyle>
            <a:lvl1pPr>
              <a:defRPr sz="1800">
                <a:latin typeface="Calibri" charset="0"/>
                <a:ea typeface="Calibri" charset="0"/>
                <a:cs typeface="Calibri" charset="0"/>
              </a:defRPr>
            </a:lvl1pPr>
            <a:lvl2pPr>
              <a:defRPr sz="1600">
                <a:latin typeface="Calibri" charset="0"/>
                <a:ea typeface="Calibri" charset="0"/>
                <a:cs typeface="Calibri" charset="0"/>
              </a:defRPr>
            </a:lvl2pPr>
            <a:lvl3pPr>
              <a:defRPr sz="1400">
                <a:latin typeface="Calibri" charset="0"/>
                <a:ea typeface="Calibri" charset="0"/>
                <a:cs typeface="Calibri" charset="0"/>
              </a:defRPr>
            </a:lvl3pPr>
            <a:lvl4pPr>
              <a:defRPr sz="1200">
                <a:latin typeface="Calibri" charset="0"/>
                <a:ea typeface="Calibri" charset="0"/>
                <a:cs typeface="Calibri" charset="0"/>
              </a:defRPr>
            </a:lvl4pPr>
            <a:lvl5pPr>
              <a:defRPr sz="11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028267" y="134112"/>
            <a:ext cx="3713141" cy="2123666"/>
          </a:xfrm>
          <a:prstGeom prst="rect">
            <a:avLst/>
          </a:prstGeom>
          <a:pattFill prst="pct90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50800" cmpd="thickThin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105422" y="310895"/>
            <a:ext cx="1415345" cy="544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[Video here]</a:t>
            </a:r>
          </a:p>
          <a:p>
            <a:r>
              <a:rPr lang="de-DE" dirty="0"/>
              <a:t>© </a:t>
            </a:r>
            <a:r>
              <a:rPr lang="de-DE" dirty="0" err="1"/>
              <a:t>mz</a:t>
            </a:r>
            <a:endParaRPr lang="en-US" dirty="0"/>
          </a:p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028267" y="134112"/>
            <a:ext cx="3713141" cy="2123666"/>
          </a:xfrm>
          <a:prstGeom prst="rect">
            <a:avLst/>
          </a:prstGeom>
          <a:pattFill prst="pct90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50800" cmpd="thickThin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5" y="585216"/>
            <a:ext cx="4975521" cy="1499616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105422" y="310895"/>
            <a:ext cx="1415345" cy="544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[Video here]</a:t>
            </a:r>
          </a:p>
          <a:p>
            <a:r>
              <a:rPr lang="de-DE" dirty="0"/>
              <a:t>© </a:t>
            </a:r>
            <a:r>
              <a:rPr lang="de-DE" dirty="0" err="1"/>
              <a:t>mz</a:t>
            </a:r>
            <a:endParaRPr lang="en-US" dirty="0"/>
          </a:p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791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50" y="1037691"/>
            <a:ext cx="9473609" cy="54534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87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2" r:id="rId3"/>
    <p:sldLayoutId id="2147483866" r:id="rId4"/>
    <p:sldLayoutId id="2147483865" r:id="rId5"/>
  </p:sldLayoutIdLst>
  <p:txStyles>
    <p:titleStyle>
      <a:lvl1pPr marL="0" indent="360363" algn="l" defTabSz="742950" rtl="0" eaLnBrk="1" latinLnBrk="0" hangingPunct="1">
        <a:lnSpc>
          <a:spcPct val="80000"/>
        </a:lnSpc>
        <a:spcBef>
          <a:spcPct val="0"/>
        </a:spcBef>
        <a:buNone/>
        <a:defRPr sz="3600" b="1" kern="1200" cap="all" spc="81" baseline="0">
          <a:solidFill>
            <a:schemeClr val="bg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74295" indent="-74295" algn="l" defTabSz="742950" rtl="0" eaLnBrk="1" latinLnBrk="0" hangingPunct="1">
        <a:lnSpc>
          <a:spcPct val="90000"/>
        </a:lnSpc>
        <a:spcBef>
          <a:spcPts val="975"/>
        </a:spcBef>
        <a:spcAft>
          <a:spcPts val="163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21545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36404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482918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631508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742950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861822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988124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110699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budgetpolitik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Lukas </a:t>
            </a:r>
            <a:r>
              <a:rPr lang="en-GB" dirty="0" err="1"/>
              <a:t>reiss</a:t>
            </a:r>
            <a:endParaRPr lang="en-GB" dirty="0"/>
          </a:p>
          <a:p>
            <a:r>
              <a:rPr lang="en-GB" dirty="0"/>
              <a:t>Martin Zagler</a:t>
            </a:r>
          </a:p>
        </p:txBody>
      </p:sp>
    </p:spTree>
    <p:extLst>
      <p:ext uri="{BB962C8B-B14F-4D97-AF65-F5344CB8AC3E}">
        <p14:creationId xmlns:p14="http://schemas.microsoft.com/office/powerpoint/2010/main" val="16698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4F361-E67B-27CC-A73F-2BC1F095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940E-48B0-A6A4-28AD-422F9A52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 </a:t>
            </a:r>
            <a:r>
              <a:rPr lang="en-GB" dirty="0" err="1"/>
              <a:t>Zählt</a:t>
            </a:r>
            <a:r>
              <a:rPr lang="en-GB" dirty="0"/>
              <a:t>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sektor</a:t>
            </a:r>
            <a:r>
              <a:rPr lang="en-GB" dirty="0"/>
              <a:t> </a:t>
            </a:r>
            <a:r>
              <a:rPr lang="en-GB" dirty="0" err="1"/>
              <a:t>staat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65BC-5FE7-14AA-8505-10D11BB23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Österreich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Bundesstaat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Gebietskörperschaften</a:t>
            </a:r>
            <a:r>
              <a:rPr lang="en-US" dirty="0"/>
              <a:t> (fisci)</a:t>
            </a:r>
          </a:p>
          <a:p>
            <a:pPr lvl="1"/>
            <a:r>
              <a:rPr lang="en-US" dirty="0"/>
              <a:t>Bund</a:t>
            </a:r>
          </a:p>
          <a:p>
            <a:pPr lvl="1"/>
            <a:r>
              <a:rPr lang="en-US" dirty="0"/>
              <a:t>Länder</a:t>
            </a:r>
          </a:p>
          <a:p>
            <a:pPr lvl="1"/>
            <a:r>
              <a:rPr lang="en-US" dirty="0"/>
              <a:t>Gemeinden</a:t>
            </a:r>
          </a:p>
          <a:p>
            <a:pPr lvl="1"/>
            <a:endParaRPr lang="en-US" dirty="0"/>
          </a:p>
          <a:p>
            <a:pPr marL="103188" lvl="1" indent="0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Parafisci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dirty="0" err="1"/>
              <a:t>Sozialversicherungen</a:t>
            </a:r>
            <a:endParaRPr lang="en-US" dirty="0"/>
          </a:p>
          <a:p>
            <a:pPr marL="103188" lvl="1" indent="0">
              <a:buNone/>
            </a:pPr>
            <a:endParaRPr lang="de-DE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03188" lvl="1" indent="0">
              <a:buNone/>
            </a:pPr>
            <a:r>
              <a:rPr lang="de-DE" sz="2400" b="1" dirty="0">
                <a:solidFill>
                  <a:schemeClr val="accent1">
                    <a:lumMod val="75000"/>
                  </a:schemeClr>
                </a:solidFill>
              </a:rPr>
              <a:t>Staatsnahe Unternehmen und sonstige Institutionen</a:t>
            </a:r>
          </a:p>
          <a:p>
            <a:pPr lvl="1"/>
            <a:r>
              <a:rPr lang="en-US" dirty="0" err="1"/>
              <a:t>Teile</a:t>
            </a:r>
            <a:r>
              <a:rPr lang="en-US" dirty="0"/>
              <a:t> ÖBB-</a:t>
            </a:r>
            <a:r>
              <a:rPr lang="en-US" dirty="0" err="1"/>
              <a:t>Konzern</a:t>
            </a:r>
            <a:r>
              <a:rPr lang="en-US" dirty="0"/>
              <a:t>, </a:t>
            </a:r>
            <a:r>
              <a:rPr lang="en-US" dirty="0" err="1"/>
              <a:t>Spitäler</a:t>
            </a:r>
            <a:r>
              <a:rPr lang="en-US" dirty="0"/>
              <a:t>, </a:t>
            </a:r>
            <a:r>
              <a:rPr lang="en-US" dirty="0" err="1"/>
              <a:t>Hochschulen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426910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577E-8902-F366-22B9-C31D0632E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045A-42F9-8DA4-3746-F708E2EC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Bundesministerium</a:t>
            </a:r>
            <a:r>
              <a:rPr lang="en-GB" dirty="0"/>
              <a:t> für </a:t>
            </a:r>
            <a:r>
              <a:rPr lang="en-GB" dirty="0" err="1"/>
              <a:t>Finanzen</a:t>
            </a:r>
            <a:r>
              <a:rPr lang="en-GB" dirty="0"/>
              <a:t> (BMF)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9C6B9-FBAE-A4A5-8B15-619850BE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3188" lvl="1" indent="0">
              <a:buNone/>
            </a:pPr>
            <a:r>
              <a:rPr lang="de-DE" sz="2400" b="1" dirty="0">
                <a:solidFill>
                  <a:schemeClr val="accent1">
                    <a:lumMod val="75000"/>
                  </a:schemeClr>
                </a:solidFill>
              </a:rPr>
              <a:t>Aufgaben</a:t>
            </a:r>
          </a:p>
          <a:p>
            <a:pPr lvl="1"/>
            <a:r>
              <a:rPr lang="de-DE" dirty="0"/>
              <a:t>Erstellung und laufende Überwachung des Bundesbudgets,</a:t>
            </a:r>
          </a:p>
          <a:p>
            <a:pPr lvl="1"/>
            <a:r>
              <a:rPr lang="de-DE" dirty="0"/>
              <a:t>Legistik und Einhebung eines großen Teils der Steuereinnahmen,</a:t>
            </a:r>
          </a:p>
          <a:p>
            <a:pPr lvl="1"/>
            <a:r>
              <a:rPr lang="de-DE" dirty="0"/>
              <a:t>Implementierung der europäischen und nationalen Fiskalregeln. </a:t>
            </a:r>
          </a:p>
          <a:p>
            <a:pPr lvl="1"/>
            <a:endParaRPr lang="de-DE" dirty="0"/>
          </a:p>
          <a:p>
            <a:pPr marL="103188" lvl="1" indent="0">
              <a:buNone/>
            </a:pPr>
            <a:r>
              <a:rPr lang="de-DE" sz="2400" b="1" dirty="0">
                <a:solidFill>
                  <a:schemeClr val="accent1">
                    <a:lumMod val="75000"/>
                  </a:schemeClr>
                </a:solidFill>
              </a:rPr>
              <a:t>Budgetkreislauf</a:t>
            </a:r>
          </a:p>
          <a:p>
            <a:pPr lvl="1"/>
            <a:r>
              <a:rPr lang="de-DE" dirty="0"/>
              <a:t>Das Budget wird vom BMF erstellt.</a:t>
            </a:r>
          </a:p>
          <a:p>
            <a:pPr lvl="2"/>
            <a:r>
              <a:rPr lang="de-DE" dirty="0"/>
              <a:t>Detaillierte Ausgabenplanung für einzelne Ministerien</a:t>
            </a:r>
          </a:p>
          <a:p>
            <a:pPr lvl="2"/>
            <a:r>
              <a:rPr lang="de-DE" dirty="0"/>
              <a:t>Prognosen über die Einnahmen aus Steuern, Gebühren, Dividenden, …</a:t>
            </a:r>
          </a:p>
          <a:p>
            <a:pPr lvl="1"/>
            <a:r>
              <a:rPr lang="de-DE" dirty="0"/>
              <a:t>Budgetverhandlungen zwischen BMF und den einzelnen Ministerien.</a:t>
            </a:r>
          </a:p>
          <a:p>
            <a:pPr lvl="1"/>
            <a:r>
              <a:rPr lang="de-DE" dirty="0"/>
              <a:t>Budgetrede</a:t>
            </a:r>
          </a:p>
          <a:p>
            <a:pPr lvl="1"/>
            <a:r>
              <a:rPr lang="de-DE" dirty="0"/>
              <a:t>Beschluss durch den Nationalrat</a:t>
            </a:r>
          </a:p>
        </p:txBody>
      </p:sp>
    </p:spTree>
    <p:extLst>
      <p:ext uri="{BB962C8B-B14F-4D97-AF65-F5344CB8AC3E}">
        <p14:creationId xmlns:p14="http://schemas.microsoft.com/office/powerpoint/2010/main" val="42334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13F7E-47EC-E77C-0D03-299FAEDC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D17B-D9F2-9283-56DC-092E6BE8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Budgetkreislauf</a:t>
            </a:r>
            <a:endParaRPr lang="en-GB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9B07740-319A-34A8-7886-5002E5217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913670"/>
              </p:ext>
            </p:extLst>
          </p:nvPr>
        </p:nvGraphicFramePr>
        <p:xfrm>
          <a:off x="220663" y="940025"/>
          <a:ext cx="9502773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108">
                  <a:extLst>
                    <a:ext uri="{9D8B030D-6E8A-4147-A177-3AD203B41FA5}">
                      <a16:colId xmlns:a16="http://schemas.microsoft.com/office/drawing/2014/main" val="7601311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69535037"/>
                    </a:ext>
                  </a:extLst>
                </a:gridCol>
                <a:gridCol w="3758065">
                  <a:extLst>
                    <a:ext uri="{9D8B030D-6E8A-4147-A177-3AD203B41FA5}">
                      <a16:colId xmlns:a16="http://schemas.microsoft.com/office/drawing/2014/main" val="39798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1600" b="1" i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600" b="1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Bundesbudget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600" b="1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Gesamtstaatliche Zahlen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806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Jänner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Veröffentlichung Budgetvollzugs-Daten für Jahr T-1 (BMF)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1553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März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Bericht zum vorläufigen Gebarungserfolg für Jahr T-1 (BMF)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Notifikation von 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Statistik Austria </a:t>
                      </a: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für Jahre T-4 bis T-1 mit BMF-Prognose für Jahr T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301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April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Fortschrittsbericht zum aktuellen Fiskalstrukturplan, eventuell neuer Fiskalstrukturplan</a:t>
                      </a: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2912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</a:t>
                      </a: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EK-Prognose für Jahre T bis T+1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801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Juni</a:t>
                      </a: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Bundesrechnungsabschluss für Jahr T-1 (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Rechnungshof</a:t>
                      </a: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Länderbericht und länderspezifische Empfehlungen der 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Europäischen Kommission</a:t>
                      </a:r>
                      <a:endParaRPr lang="de-DE" sz="1400" b="1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184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September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Notifikation von 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Statistik Austria </a:t>
                      </a: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für Jahre T-4 bis T-1 mit BMF-Prognose für Jahr T; Bericht von Statistik Austria über Befolgung der nationalen Fiskalregeln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370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Oktober</a:t>
                      </a: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Budgetrede, Regierungsvorlagen für Bundesfinanzgesetz Jahr T+1, Budgetbegleitgesetze sowie Bundesfinanzrahmengesetz Jahre T+1 bis T+4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Übersicht über die Haushaltsplanung mit Prognosen für T bis T+1 (BMF)</a:t>
                      </a: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4255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November</a:t>
                      </a:r>
                      <a:endParaRPr lang="de-DE" sz="14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Ausschussberatungen und Beschluss der Budgetgesetze durch 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Nationalrat</a:t>
                      </a:r>
                      <a:endParaRPr lang="de-DE" sz="1400" b="1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EK-Prognose für Jahre T bis T+2; Beurteilung der Haushaltspläne durch </a:t>
                      </a: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Europäische Kommission</a:t>
                      </a:r>
                      <a:endParaRPr lang="de-DE" sz="1400" b="1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123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Februar, Juli, August, Dezember</a:t>
                      </a:r>
                      <a:endParaRPr lang="de-DE" sz="1400" b="1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de-DE" sz="14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Keine Aktivitäten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de-DE" sz="14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1101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91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1853-DDA7-759D-F63E-51CCAF66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C521-F93B-01E4-7577-B1739129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Ziele</a:t>
            </a:r>
            <a:r>
              <a:rPr lang="en-GB" dirty="0"/>
              <a:t> der </a:t>
            </a:r>
            <a:r>
              <a:rPr lang="en-GB" dirty="0" err="1"/>
              <a:t>Budgetpolitik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36CD4-BDE4-8267-6B5D-9699E39A4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:endParaRPr lang="de-DE" dirty="0"/>
              </a:p>
              <a:p>
                <a:pPr algn="ctr"/>
                <a:r>
                  <a:rPr lang="de-DE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3200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… </a:t>
                </a:r>
                <a:r>
                  <a:rPr lang="en-US" sz="2400" dirty="0" err="1"/>
                  <a:t>staatliche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Primärausgaben</a:t>
                </a:r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… </a:t>
                </a:r>
                <a:r>
                  <a:rPr lang="en-US" sz="2400" dirty="0" err="1"/>
                  <a:t>staatliche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Einnahmen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… </a:t>
                </a:r>
                <a:r>
                  <a:rPr lang="en-US" sz="2400" dirty="0" err="1"/>
                  <a:t>Primärdefizit</a:t>
                </a:r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… </a:t>
                </a:r>
                <a:r>
                  <a:rPr lang="en-US" sz="2400" dirty="0" err="1"/>
                  <a:t>öffentliche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Verschuldung</a:t>
                </a:r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… </a:t>
                </a:r>
                <a:r>
                  <a:rPr lang="en-US" sz="2400" dirty="0" err="1"/>
                  <a:t>Zinsendienst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… </a:t>
                </a:r>
                <a:r>
                  <a:rPr lang="en-US" sz="2400" dirty="0" err="1"/>
                  <a:t>Nettodefizit</a:t>
                </a:r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36CD4-BDE4-8267-6B5D-9699E39A4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372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3E96-E7F3-5469-052E-3334D16D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B798-9446-BE25-98D2-DE55C12E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Allokationsziel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9B90-2C1E-016C-7AD2-2F14C395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3188" lvl="1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Das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Allokationsproblem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de-DE" sz="2400" dirty="0"/>
              <a:t>Knappe Ressourcen dem bestmöglichen Zweck widmen.</a:t>
            </a:r>
          </a:p>
          <a:p>
            <a:pPr lvl="1"/>
            <a:r>
              <a:rPr lang="de-DE" sz="2400" dirty="0"/>
              <a:t>Lösung in der Regel über Märkte.</a:t>
            </a:r>
          </a:p>
          <a:p>
            <a:pPr marL="103188" lvl="1" indent="0">
              <a:buNone/>
            </a:pPr>
            <a:r>
              <a:rPr lang="de-DE" sz="2400" b="1" dirty="0">
                <a:solidFill>
                  <a:schemeClr val="accent1">
                    <a:lumMod val="75000"/>
                  </a:schemeClr>
                </a:solidFill>
              </a:rPr>
              <a:t>Ausnahmen:</a:t>
            </a:r>
          </a:p>
          <a:p>
            <a:pPr lvl="1"/>
            <a:r>
              <a:rPr lang="de-DE" sz="2400" dirty="0"/>
              <a:t>öffentliche Gütern</a:t>
            </a:r>
          </a:p>
          <a:p>
            <a:pPr lvl="2"/>
            <a:r>
              <a:rPr lang="de-DE" sz="2000" dirty="0"/>
              <a:t>Nicht-Rivalität im Konsum</a:t>
            </a:r>
          </a:p>
          <a:p>
            <a:pPr lvl="2"/>
            <a:r>
              <a:rPr lang="de-DE" sz="2000" dirty="0"/>
              <a:t>Nicht-Ausschließbarkeit</a:t>
            </a:r>
          </a:p>
          <a:p>
            <a:pPr lvl="1"/>
            <a:r>
              <a:rPr lang="de-DE" sz="2400" dirty="0"/>
              <a:t>externe Effekte</a:t>
            </a:r>
          </a:p>
          <a:p>
            <a:pPr lvl="1"/>
            <a:r>
              <a:rPr lang="de-DE" sz="2400" dirty="0"/>
              <a:t>Informationsasymmetrien </a:t>
            </a:r>
            <a:endParaRPr lang="en-US" sz="2400" dirty="0"/>
          </a:p>
          <a:p>
            <a:pPr marL="103188" lvl="1" indent="0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Leistungserbringung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en-US" sz="2400" dirty="0" err="1"/>
              <a:t>durch</a:t>
            </a:r>
            <a:r>
              <a:rPr lang="en-US" sz="2400" dirty="0"/>
              <a:t> den </a:t>
            </a:r>
            <a:r>
              <a:rPr lang="en-US" sz="2400" dirty="0" err="1"/>
              <a:t>öffentlichen</a:t>
            </a:r>
            <a:r>
              <a:rPr lang="en-US" sz="2400" dirty="0"/>
              <a:t> Sektor, </a:t>
            </a:r>
            <a:r>
              <a:rPr lang="en-US" sz="2400" dirty="0" err="1"/>
              <a:t>öffentliche</a:t>
            </a:r>
            <a:r>
              <a:rPr lang="en-US" sz="2400" dirty="0"/>
              <a:t> </a:t>
            </a:r>
            <a:r>
              <a:rPr lang="en-US" sz="2400" dirty="0" err="1"/>
              <a:t>Unternehmen</a:t>
            </a:r>
            <a:r>
              <a:rPr lang="en-US" sz="2400" dirty="0"/>
              <a:t>, </a:t>
            </a:r>
            <a:r>
              <a:rPr lang="en-US" sz="2400" dirty="0" err="1"/>
              <a:t>oder</a:t>
            </a:r>
            <a:r>
              <a:rPr lang="en-US" sz="2400" dirty="0"/>
              <a:t> gar private </a:t>
            </a:r>
            <a:r>
              <a:rPr lang="en-US" sz="2400" dirty="0" err="1"/>
              <a:t>Institutionen</a:t>
            </a:r>
            <a:r>
              <a:rPr lang="en-US" sz="2400" dirty="0"/>
              <a:t> (</a:t>
            </a:r>
            <a:r>
              <a:rPr lang="en-US" sz="2400" dirty="0" err="1"/>
              <a:t>Ordensspitäler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Alternative </a:t>
            </a:r>
            <a:r>
              <a:rPr lang="en-US" sz="2400" dirty="0" err="1"/>
              <a:t>Lösung</a:t>
            </a:r>
            <a:r>
              <a:rPr lang="en-US" sz="2400" dirty="0"/>
              <a:t> von </a:t>
            </a:r>
            <a:r>
              <a:rPr lang="en-US" sz="2400" dirty="0" err="1"/>
              <a:t>Allokationsproblemen</a:t>
            </a:r>
            <a:r>
              <a:rPr lang="en-US" sz="2400" dirty="0"/>
              <a:t> </a:t>
            </a:r>
            <a:r>
              <a:rPr lang="en-US" sz="2400" dirty="0" err="1"/>
              <a:t>durch</a:t>
            </a:r>
            <a:r>
              <a:rPr lang="en-US" sz="2400" dirty="0"/>
              <a:t> </a:t>
            </a:r>
            <a:r>
              <a:rPr lang="en-US" sz="2400" dirty="0" err="1"/>
              <a:t>Lenkungssteuern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820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E740-9FC6-3811-D560-2EF73677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A4B2-C3E6-0B5F-8696-29748B18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Verteilungsziel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455B-AEED-BFB6-38A4-09C56A5D4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3188" lvl="1" indent="0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Ausgabenseite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de-DE" sz="2400" dirty="0"/>
              <a:t>Transferzahlungen (Arbeitslosengeld, Pensionen, …)</a:t>
            </a:r>
          </a:p>
          <a:p>
            <a:pPr lvl="1"/>
            <a:r>
              <a:rPr lang="de-DE" sz="2400" dirty="0"/>
              <a:t>Bildung für bessere Chancengleichheit</a:t>
            </a:r>
          </a:p>
          <a:p>
            <a:pPr marL="103188" lvl="1" indent="0">
              <a:buNone/>
            </a:pPr>
            <a:r>
              <a:rPr lang="de-DE" sz="2400" b="1" dirty="0">
                <a:solidFill>
                  <a:schemeClr val="accent1">
                    <a:lumMod val="75000"/>
                  </a:schemeClr>
                </a:solidFill>
              </a:rPr>
              <a:t>Einnahmenseite</a:t>
            </a:r>
          </a:p>
          <a:p>
            <a:pPr lvl="1"/>
            <a:r>
              <a:rPr lang="de-DE" sz="2400" dirty="0"/>
              <a:t>Steuern auf Konsum (regressiv)</a:t>
            </a:r>
          </a:p>
          <a:p>
            <a:pPr lvl="1"/>
            <a:r>
              <a:rPr lang="de-DE" sz="2400" dirty="0"/>
              <a:t>Steuern auf Einkommen (</a:t>
            </a:r>
            <a:r>
              <a:rPr lang="de-DE" sz="2400" dirty="0" err="1"/>
              <a:t>idR</a:t>
            </a:r>
            <a:r>
              <a:rPr lang="de-DE" sz="2400" dirty="0"/>
              <a:t> progressiv)</a:t>
            </a:r>
          </a:p>
          <a:p>
            <a:pPr lvl="2"/>
            <a:r>
              <a:rPr lang="de-DE" sz="2000" dirty="0"/>
              <a:t>Primärverteilung</a:t>
            </a:r>
          </a:p>
          <a:p>
            <a:pPr lvl="2"/>
            <a:r>
              <a:rPr lang="de-DE" sz="2000" dirty="0"/>
              <a:t>Sekundärverteilung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72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6F65-3DD3-EC73-9E54-9D997B66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ABA3-1D7F-33DE-F6AC-17B4F5F2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Stabilitätsziel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D1FDA-0599-9420-136F-CCBF8CC6C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lang="de-DE" sz="2400" dirty="0"/>
                  <a:t>Steuereinnahmen und Staatsausgaben schwanken stark mit der Konjunktur:</a:t>
                </a:r>
              </a:p>
              <a:p>
                <a:pPr lvl="2"/>
                <a:r>
                  <a:rPr lang="de-DE" sz="2200" dirty="0"/>
                  <a:t>T = T(Y) mit </a:t>
                </a:r>
                <a:r>
                  <a:rPr lang="de-DE" sz="2200" dirty="0" err="1"/>
                  <a:t>dT</a:t>
                </a:r>
                <a:r>
                  <a:rPr lang="de-DE" sz="2200" dirty="0"/>
                  <a:t>/</a:t>
                </a:r>
                <a:r>
                  <a:rPr lang="de-DE" sz="2200" dirty="0" err="1"/>
                  <a:t>dY</a:t>
                </a:r>
                <a:r>
                  <a:rPr lang="de-DE" sz="2200" dirty="0"/>
                  <a:t> &gt; 0</a:t>
                </a:r>
              </a:p>
              <a:p>
                <a:pPr lvl="2"/>
                <a:r>
                  <a:rPr lang="de-DE" sz="2200" dirty="0"/>
                  <a:t>G= G(Y) mit </a:t>
                </a:r>
                <a:r>
                  <a:rPr lang="de-DE" sz="2200" dirty="0" err="1"/>
                  <a:t>dG</a:t>
                </a:r>
                <a:r>
                  <a:rPr lang="de-DE" sz="2200" dirty="0"/>
                  <a:t>/</a:t>
                </a:r>
                <a:r>
                  <a:rPr lang="de-DE" sz="2200" dirty="0" err="1"/>
                  <a:t>dY</a:t>
                </a:r>
                <a:r>
                  <a:rPr lang="de-DE" sz="2200" dirty="0"/>
                  <a:t> &lt; 0</a:t>
                </a:r>
              </a:p>
              <a:p>
                <a:pPr lvl="1"/>
                <a:r>
                  <a:rPr lang="de-DE" sz="2400" dirty="0"/>
                  <a:t>Dies führt zu einem Anstieg des Budgetdefizits.</a:t>
                </a:r>
              </a:p>
              <a:p>
                <a:pPr lvl="1"/>
                <a:r>
                  <a:rPr lang="de-DE" sz="2400" dirty="0"/>
                  <a:t>Konjunkturneutrales Budgetdefizit: BIP auf seinem Potential (Y = Y*):</a:t>
                </a:r>
              </a:p>
              <a:p>
                <a:pPr marL="10318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it-IT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it-IT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2800" dirty="0"/>
              </a:p>
              <a:p>
                <a:pPr lvl="1"/>
                <a:r>
                  <a:rPr lang="de-DE" sz="2400" dirty="0"/>
                  <a:t>Zyklische Komponente (Fiskalischer Impuls oder Automatische Stabilisatoren):</a:t>
                </a:r>
              </a:p>
              <a:p>
                <a:pPr marL="10318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de-DE" sz="2400" dirty="0"/>
              </a:p>
              <a:p>
                <a:pPr lvl="1"/>
                <a:r>
                  <a:rPr lang="de-DE" sz="2400" dirty="0"/>
                  <a:t>Zeitliche Verzögerung: </a:t>
                </a:r>
                <a:r>
                  <a:rPr lang="de-DE" sz="2400" dirty="0" err="1"/>
                  <a:t>Inner</a:t>
                </a:r>
                <a:r>
                  <a:rPr lang="de-DE" sz="2400" dirty="0"/>
                  <a:t> Lag versus Outer Lag.</a:t>
                </a:r>
              </a:p>
              <a:p>
                <a:pPr lvl="1"/>
                <a:r>
                  <a:rPr lang="de-DE" sz="2400" dirty="0"/>
                  <a:t>Kein fiskalischer Impuls bei </a:t>
                </a:r>
                <a:r>
                  <a:rPr lang="de-DE" sz="2400" dirty="0" err="1"/>
                  <a:t>Ricardianischer</a:t>
                </a:r>
                <a:r>
                  <a:rPr lang="de-DE" sz="2400" dirty="0"/>
                  <a:t> Äquivalenz.</a:t>
                </a:r>
              </a:p>
              <a:p>
                <a:pPr marL="103188" lvl="1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D1FDA-0599-9420-136F-CCBF8CC6C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7" t="-15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26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531A-F5AD-A95F-D7E5-D7ECE24B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0422-8127-C822-E450-11730372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Ausrichtung der </a:t>
            </a:r>
            <a:r>
              <a:rPr lang="de-DE" dirty="0" err="1"/>
              <a:t>Fiskalpolik</a:t>
            </a:r>
            <a:r>
              <a:rPr lang="de-DE" dirty="0"/>
              <a:t> </a:t>
            </a:r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919E2A9-F037-A124-75E6-2870C27A41C2}"/>
              </a:ext>
            </a:extLst>
          </p:cNvPr>
          <p:cNvSpPr txBox="1"/>
          <p:nvPr/>
        </p:nvSpPr>
        <p:spPr>
          <a:xfrm>
            <a:off x="163618" y="879804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des BIP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FB376A9-3187-B3E7-B153-9C9AC3A24FE3}"/>
              </a:ext>
            </a:extLst>
          </p:cNvPr>
          <p:cNvSpPr txBox="1"/>
          <p:nvPr/>
        </p:nvSpPr>
        <p:spPr>
          <a:xfrm>
            <a:off x="5115698" y="6463299"/>
            <a:ext cx="4569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** Jahre mit Rückgang des realen BIP sind eingerahmt.</a:t>
            </a:r>
            <a:r>
              <a:rPr lang="de-DE" sz="1200" dirty="0"/>
              <a:t> </a:t>
            </a:r>
            <a:endParaRPr lang="en-GB" sz="12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B4E5B96-1C7B-38DF-E199-6530749A9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50" y="1154628"/>
            <a:ext cx="8954343" cy="526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1342-48DC-24DC-BEC9-2001082E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169E-4C85-52B6-4C23-C3B67FD1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BudgetzielE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0147-CDDC-2995-AA6E-D359AC23D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de-DE" sz="2400" dirty="0"/>
              <a:t>Das Budget ist maximal ein Zwischenziel, vermutlich aber eher ein Instrument der Wirtschaftspolitik.</a:t>
            </a:r>
            <a:endParaRPr lang="en-US" dirty="0"/>
          </a:p>
          <a:p>
            <a:pPr lvl="1"/>
            <a:r>
              <a:rPr lang="de-DE" sz="2400" dirty="0"/>
              <a:t>Dennoch: </a:t>
            </a:r>
          </a:p>
          <a:p>
            <a:pPr lvl="2"/>
            <a:r>
              <a:rPr lang="de-DE" sz="2000" dirty="0"/>
              <a:t>„Ein paar Milliarden mehr Schulden bereiten mir weniger schlaflose Nächte als ein paar hunderttausend Arbeitslose“ (Bruno Kreisky, 1974)</a:t>
            </a:r>
          </a:p>
          <a:p>
            <a:pPr lvl="2"/>
            <a:r>
              <a:rPr lang="de-DE" sz="2000" dirty="0"/>
              <a:t>„Ein guter Tag beginnt mit einem ausgeglichenen Budget“ (Karl-Heinz Grasser, 2000). </a:t>
            </a:r>
          </a:p>
          <a:p>
            <a:pPr lvl="1"/>
            <a:endParaRPr lang="de-DE" sz="2400" dirty="0"/>
          </a:p>
          <a:p>
            <a:pPr lvl="1"/>
            <a:r>
              <a:rPr lang="de-DE" sz="2400" dirty="0"/>
              <a:t>Deutsche Schuldenbremse (Grundgesetz Art. 109)</a:t>
            </a:r>
          </a:p>
          <a:p>
            <a:pPr lvl="1"/>
            <a:r>
              <a:rPr lang="de-DE" sz="2400" dirty="0"/>
              <a:t>Maastricht Kriterien</a:t>
            </a:r>
          </a:p>
          <a:p>
            <a:pPr lvl="1"/>
            <a:r>
              <a:rPr lang="de-DE" sz="2400" dirty="0"/>
              <a:t>Stabilitäts- und Wachstumspakt (EU Resolution C236 von 1997)</a:t>
            </a:r>
          </a:p>
          <a:p>
            <a:pPr lvl="2"/>
            <a:r>
              <a:rPr lang="de-DE" dirty="0"/>
              <a:t>unbereinigte Budgetdefizit unter Referenzwert von 3%, stetigen Schuldenabbau gewährleisten.</a:t>
            </a:r>
          </a:p>
          <a:p>
            <a:pPr lvl="2"/>
            <a:r>
              <a:rPr lang="de-DE" dirty="0"/>
              <a:t>Fiskalstrukturpläne für Mitgliedsstaaten mit Budgetdefiziten über 3% des BIP und/oder Schuldenquote über 60% des BIP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604544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3D9B-61B0-087F-9815-B2075BE4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4CAD-2C34-C285-0FD9-28284ACE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VErwaltungsföderalismus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2794-2F4E-9B91-2151-3DB11096F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de-DE" sz="2400" dirty="0"/>
              <a:t>Sicherheitsbereich und Sozialleistungen überwiegend bei Bund</a:t>
            </a:r>
          </a:p>
          <a:p>
            <a:pPr lvl="2"/>
            <a:r>
              <a:rPr lang="de-DE" sz="2000" dirty="0"/>
              <a:t>Sozialleistungen teilweise über selbstverwaltete Sozialversicherungsträger</a:t>
            </a:r>
          </a:p>
          <a:p>
            <a:pPr lvl="1"/>
            <a:endParaRPr lang="de-DE" sz="2400" dirty="0"/>
          </a:p>
          <a:p>
            <a:pPr lvl="1"/>
            <a:r>
              <a:rPr lang="de-DE" sz="2400" dirty="0"/>
              <a:t>Bei Verwaltung sind Länder deutlich wichtiger als in Gesetzgebung</a:t>
            </a:r>
          </a:p>
          <a:p>
            <a:pPr lvl="2"/>
            <a:r>
              <a:rPr lang="de-DE" sz="2000" dirty="0"/>
              <a:t>Ca. 1/3 der Staatsausgaben wird von Ländern/Gemeinden verwaltet</a:t>
            </a:r>
          </a:p>
          <a:p>
            <a:pPr lvl="1"/>
            <a:endParaRPr lang="de-DE" sz="2400" dirty="0"/>
          </a:p>
          <a:p>
            <a:pPr lvl="1"/>
            <a:r>
              <a:rPr lang="de-DE" sz="2400" dirty="0"/>
              <a:t>Komplizierte Verflechtungen zwischen verschiedenen Ebenen</a:t>
            </a:r>
          </a:p>
          <a:p>
            <a:pPr lvl="2"/>
            <a:r>
              <a:rPr lang="de-DE" sz="2000" dirty="0"/>
              <a:t>Bildung: Pflichtschulen bei Ländern, höhere Schulen bei Bund (und Bund zahlt Gehälter der „Landeslehrer“)</a:t>
            </a:r>
          </a:p>
          <a:p>
            <a:pPr lvl="2"/>
            <a:r>
              <a:rPr lang="de-DE" sz="2000" dirty="0"/>
              <a:t>Gesundheit: Spitäler bei Ländern, niedergelassener Bereich bei Sozialversicherung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8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85CE-8238-4ABE-EB47-01211B6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7AAE-A899-29F7-2D59-2996C078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 der Staatsausgaben </a:t>
            </a:r>
            <a:endParaRPr lang="en-GB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9696853-14DF-E93A-4981-8E5FBB911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886734"/>
              </p:ext>
            </p:extLst>
          </p:nvPr>
        </p:nvGraphicFramePr>
        <p:xfrm>
          <a:off x="220663" y="1027113"/>
          <a:ext cx="9502770" cy="504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95">
                  <a:extLst>
                    <a:ext uri="{9D8B030D-6E8A-4147-A177-3AD203B41FA5}">
                      <a16:colId xmlns:a16="http://schemas.microsoft.com/office/drawing/2014/main" val="3601689161"/>
                    </a:ext>
                  </a:extLst>
                </a:gridCol>
                <a:gridCol w="896212">
                  <a:extLst>
                    <a:ext uri="{9D8B030D-6E8A-4147-A177-3AD203B41FA5}">
                      <a16:colId xmlns:a16="http://schemas.microsoft.com/office/drawing/2014/main" val="2346820396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3167269266"/>
                    </a:ext>
                  </a:extLst>
                </a:gridCol>
                <a:gridCol w="1190846">
                  <a:extLst>
                    <a:ext uri="{9D8B030D-6E8A-4147-A177-3AD203B41FA5}">
                      <a16:colId xmlns:a16="http://schemas.microsoft.com/office/drawing/2014/main" val="3548548769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2150383955"/>
                    </a:ext>
                  </a:extLst>
                </a:gridCol>
                <a:gridCol w="3716038">
                  <a:extLst>
                    <a:ext uri="{9D8B030D-6E8A-4147-A177-3AD203B41FA5}">
                      <a16:colId xmlns:a16="http://schemas.microsoft.com/office/drawing/2014/main" val="621454156"/>
                    </a:ext>
                  </a:extLst>
                </a:gridCol>
              </a:tblGrid>
              <a:tr h="840680">
                <a:tc>
                  <a:txBody>
                    <a:bodyPr/>
                    <a:lstStyle/>
                    <a:p>
                      <a:r>
                        <a:rPr lang="de-DE" sz="1400" dirty="0"/>
                        <a:t>2024. In Mrd.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Staat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Bund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GK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Erläuterungen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4916"/>
                  </a:ext>
                </a:extLst>
              </a:tr>
              <a:tr h="84068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Gesamtausgaben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273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176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94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91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668330"/>
                  </a:ext>
                </a:extLst>
              </a:tr>
              <a:tr h="84068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an andere Staatsebenen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endParaRPr lang="de-AT" sz="14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8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Ertragsanteile, Landeslehrer, Transfers an PV und KV; SV: Spitalsfinanzierung; L/G: Zinsen Rechtsträgerfinanzierung, AMA, ÖBB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8222014"/>
                  </a:ext>
                </a:extLst>
              </a:tr>
              <a:tr h="84068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Konsolidierte Ausgaben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273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99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85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89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</a:pPr>
                      <a:endParaRPr lang="de-D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559199"/>
                  </a:ext>
                </a:extLst>
              </a:tr>
              <a:tr h="84068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Andere Ausgabenanpassungen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Ohne Zinsen, abzüglich Produktionserlöse, Abschreibungen statt Investitionsausgaben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1514083"/>
                  </a:ext>
                </a:extLst>
              </a:tr>
              <a:tr h="84068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Angepasste Ausgaben</a:t>
                      </a:r>
                      <a:endParaRPr lang="de-DE" sz="14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237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85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75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476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354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54E8-9696-905A-6456-C33A7D32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2152-43AC-4829-125B-0658EAF0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 der Staatsausgaben </a:t>
            </a:r>
            <a:endParaRPr lang="en-GB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9BFD58E-F3B8-D52E-F702-9B7D9911C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244368"/>
              </p:ext>
            </p:extLst>
          </p:nvPr>
        </p:nvGraphicFramePr>
        <p:xfrm>
          <a:off x="220663" y="1027113"/>
          <a:ext cx="9502770" cy="546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95">
                  <a:extLst>
                    <a:ext uri="{9D8B030D-6E8A-4147-A177-3AD203B41FA5}">
                      <a16:colId xmlns:a16="http://schemas.microsoft.com/office/drawing/2014/main" val="3601689161"/>
                    </a:ext>
                  </a:extLst>
                </a:gridCol>
                <a:gridCol w="896212">
                  <a:extLst>
                    <a:ext uri="{9D8B030D-6E8A-4147-A177-3AD203B41FA5}">
                      <a16:colId xmlns:a16="http://schemas.microsoft.com/office/drawing/2014/main" val="2346820396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3167269266"/>
                    </a:ext>
                  </a:extLst>
                </a:gridCol>
                <a:gridCol w="1190846">
                  <a:extLst>
                    <a:ext uri="{9D8B030D-6E8A-4147-A177-3AD203B41FA5}">
                      <a16:colId xmlns:a16="http://schemas.microsoft.com/office/drawing/2014/main" val="3548548769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2150383955"/>
                    </a:ext>
                  </a:extLst>
                </a:gridCol>
                <a:gridCol w="3716038">
                  <a:extLst>
                    <a:ext uri="{9D8B030D-6E8A-4147-A177-3AD203B41FA5}">
                      <a16:colId xmlns:a16="http://schemas.microsoft.com/office/drawing/2014/main" val="621454156"/>
                    </a:ext>
                  </a:extLst>
                </a:gridCol>
              </a:tblGrid>
              <a:tr h="840680">
                <a:tc>
                  <a:txBody>
                    <a:bodyPr/>
                    <a:lstStyle/>
                    <a:p>
                      <a:r>
                        <a:rPr lang="de-DE" sz="1400" dirty="0"/>
                        <a:t>2024. In Mrd.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Staat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Bund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GK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Erläuterungen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4916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Allgemeine öffentliche Verwaltung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Ministerien, Finanzverwaltung, EU-Beitrag; L/G: Bezirksbehörden/Magistrate, Gemeindeverwaltung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668330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Verteidigung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Landesverteidigung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17676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Öffentliche Ordnung und Sicherheit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Polizei, Strafvollzug, Gerichte; L/G: Feuerwehren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8222014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Wirtschaftliche Angelegenheiten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ÖBB, Forschungsförderung, aktive Arbeitsmarktpolitik, sonstige Förderungen; L/G: Landes- und Gemeindestraßen, regionaler öffentlicher Verkehr, Kammern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8890573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Umweltschutz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Umweltförderungen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559199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Wohnungswesen und kommunale Gemeinschaftsdienste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L/G: Wohnbauförderung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9225909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Gesundheitswesen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42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Ärzte der Universitätsspitäler; SV: Arzneien, Heilbehelfe, niedergelassener Bereich; L/G: Spitäler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1514083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Freizeitgestaltung, Sport, Kultur und Religion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ORF, Bundestheater und -museen; L/G: Freizeitangebot; B, L/G: Sport- und Kulturförderung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0024582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Bildungswesen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Höhere Schulen, Universitäten, Fachhochschulen; L/G: Kinderbetreuung, Pflichtschulen, Berufsschulen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4476610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Soziale Sicherung</a:t>
                      </a:r>
                      <a:endParaRPr lang="de-DE" sz="105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111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18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5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Pensionen Bundesbeamte, Familienleistungen, Arbeitslosenversicherung; SV: Pensionen (ohne Beamte), Pflegegeld; L/G: Sozialhilfe (inkl. Sachleistungen Pflege), Pensionen Landesbeamte</a:t>
                      </a:r>
                      <a:endParaRPr lang="de-DE" sz="105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7522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169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422B-C294-FA8C-E1D2-D43A14DA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39A5-D346-113A-F193-DE361DAB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en-GB" dirty="0" err="1"/>
              <a:t>Struktur</a:t>
            </a:r>
            <a:r>
              <a:rPr lang="en-GB" dirty="0"/>
              <a:t> und </a:t>
            </a:r>
            <a:r>
              <a:rPr lang="en-GB" dirty="0" err="1"/>
              <a:t>Entwicklung</a:t>
            </a:r>
            <a:r>
              <a:rPr lang="en-GB" dirty="0"/>
              <a:t>: </a:t>
            </a:r>
            <a:r>
              <a:rPr lang="en-GB" dirty="0" err="1"/>
              <a:t>Ausgaben</a:t>
            </a:r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E905E81-CBBE-C2A1-3788-76873AA4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5" y="1202385"/>
            <a:ext cx="9184270" cy="537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4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5AC2-7D8E-1DE3-7960-7D28BFBA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E860-EFAF-BBE7-0EA5-33B97ADF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Struktur</a:t>
            </a:r>
            <a:r>
              <a:rPr lang="en-GB" dirty="0"/>
              <a:t> der </a:t>
            </a:r>
            <a:r>
              <a:rPr lang="en-GB" dirty="0" err="1"/>
              <a:t>einnahmen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EC383-E9B3-7A3F-8D7D-3B7CA0BC1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de-DE" sz="2400" dirty="0"/>
              <a:t>Vor allem Steuern und Sozialversicherungsbeiträge</a:t>
            </a:r>
          </a:p>
          <a:p>
            <a:pPr lvl="2"/>
            <a:r>
              <a:rPr lang="de-DE" sz="2000" dirty="0"/>
              <a:t>Steuern v.a. auf Einkommen und Konsum</a:t>
            </a:r>
          </a:p>
          <a:p>
            <a:pPr lvl="2"/>
            <a:r>
              <a:rPr lang="de-DE" sz="2000" dirty="0"/>
              <a:t>Sozialversicherungsbeiträge auf Einkommen</a:t>
            </a:r>
          </a:p>
          <a:p>
            <a:pPr lvl="2"/>
            <a:r>
              <a:rPr lang="de-DE" sz="2000" dirty="0"/>
              <a:t>Zusätzlich noch Produktionserlöse von Unternehmen im Sektor Staat (ÖBB, …), Dividenden, Gebühren, …</a:t>
            </a:r>
          </a:p>
          <a:p>
            <a:pPr lvl="1"/>
            <a:endParaRPr lang="de-DE" sz="2400" dirty="0"/>
          </a:p>
          <a:p>
            <a:pPr lvl="1"/>
            <a:r>
              <a:rPr lang="de-DE" sz="2400" dirty="0"/>
              <a:t>System ist relativ zentralistisch</a:t>
            </a:r>
          </a:p>
          <a:p>
            <a:pPr lvl="2"/>
            <a:r>
              <a:rPr lang="de-DE" sz="2000" dirty="0"/>
              <a:t>Steuern und SV-Beiträge überwiegend bundesgesetzlich geregelt;</a:t>
            </a:r>
            <a:br>
              <a:rPr lang="de-DE" sz="2000" dirty="0"/>
            </a:br>
            <a:r>
              <a:rPr lang="de-DE" sz="2000" dirty="0"/>
              <a:t>Einhebung überwiegend durch Bund und Krankenversicherungsträger</a:t>
            </a:r>
            <a:endParaRPr lang="de-DE" sz="2400" dirty="0"/>
          </a:p>
          <a:p>
            <a:pPr lvl="2"/>
            <a:r>
              <a:rPr lang="de-DE" sz="2000" dirty="0"/>
              <a:t>Länder/Gemeinden: Haupteinnahmequellen sind Transfers von Bund und 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57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30D55-8727-5C26-8871-9520F999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D0D9-845F-D5F9-2333-99805770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Struktur</a:t>
            </a:r>
            <a:r>
              <a:rPr lang="en-GB" dirty="0"/>
              <a:t> der </a:t>
            </a:r>
            <a:r>
              <a:rPr lang="en-GB" dirty="0" err="1"/>
              <a:t>Einnahmen</a:t>
            </a:r>
            <a:endParaRPr lang="en-GB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9D14F5B-D94F-5D46-7022-1FF63EDF1D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836337"/>
              </p:ext>
            </p:extLst>
          </p:nvPr>
        </p:nvGraphicFramePr>
        <p:xfrm>
          <a:off x="220663" y="1027113"/>
          <a:ext cx="9502770" cy="557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95">
                  <a:extLst>
                    <a:ext uri="{9D8B030D-6E8A-4147-A177-3AD203B41FA5}">
                      <a16:colId xmlns:a16="http://schemas.microsoft.com/office/drawing/2014/main" val="3601689161"/>
                    </a:ext>
                  </a:extLst>
                </a:gridCol>
                <a:gridCol w="896212">
                  <a:extLst>
                    <a:ext uri="{9D8B030D-6E8A-4147-A177-3AD203B41FA5}">
                      <a16:colId xmlns:a16="http://schemas.microsoft.com/office/drawing/2014/main" val="2346820396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3167269266"/>
                    </a:ext>
                  </a:extLst>
                </a:gridCol>
                <a:gridCol w="1190846">
                  <a:extLst>
                    <a:ext uri="{9D8B030D-6E8A-4147-A177-3AD203B41FA5}">
                      <a16:colId xmlns:a16="http://schemas.microsoft.com/office/drawing/2014/main" val="3548548769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2150383955"/>
                    </a:ext>
                  </a:extLst>
                </a:gridCol>
                <a:gridCol w="3716038">
                  <a:extLst>
                    <a:ext uri="{9D8B030D-6E8A-4147-A177-3AD203B41FA5}">
                      <a16:colId xmlns:a16="http://schemas.microsoft.com/office/drawing/2014/main" val="621454156"/>
                    </a:ext>
                  </a:extLst>
                </a:gridCol>
              </a:tblGrid>
              <a:tr h="1004060">
                <a:tc>
                  <a:txBody>
                    <a:bodyPr/>
                    <a:lstStyle/>
                    <a:p>
                      <a:r>
                        <a:rPr lang="de-DE" sz="1400" dirty="0"/>
                        <a:t>2024. n Mrd.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Staat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Bund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GK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Erläuterungen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4916"/>
                  </a:ext>
                </a:extLst>
              </a:tr>
              <a:tr h="5020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Gesamteinnahmen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250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159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93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85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</a:pP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668330"/>
                  </a:ext>
                </a:extLst>
              </a:tr>
              <a:tr h="57677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von anderen Staatsebenen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endParaRPr lang="de-AT" sz="14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59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Zinsen Rechtsträgerfinanzierung, AMA, ÖBB; SV: Ausfallshaftung, Ausgleichszulagen und Ersatzzeiten PV; L/G: Ertragsanteile, Landeslehrer, Spitalsfinanzierung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17676"/>
                  </a:ext>
                </a:extLst>
              </a:tr>
              <a:tr h="5020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Konsolidierte Einnahmen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250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157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</a:pP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8222014"/>
                  </a:ext>
                </a:extLst>
              </a:tr>
              <a:tr h="57677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Steuern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137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127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Einkommensteuern, Umsatzsteuer, Mineralölsteuer, FLAF-Beiträge; L/G: Kommunalsteuer, Grundsteuer, Wohnbauförderungsbeitrag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8890573"/>
                  </a:ext>
                </a:extLst>
              </a:tr>
              <a:tr h="57677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Sozialbeiträge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79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ALV-Beiträge, Pensionsbeiträge Beamte; SV: Pensions-, Kranken- und Unfallversicherungsbeiträge; L/G: Pensionsbeiträge Beamte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559199"/>
                  </a:ext>
                </a:extLst>
              </a:tr>
              <a:tr h="57677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Produktionserlöse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BIG-Mieten, Erlöse ÖBB und Kulturbetriebe, imputierte Forschungsinvestitionen; L/G: Spitäler, Immobiliengesellschaften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9225909"/>
                  </a:ext>
                </a:extLst>
              </a:tr>
              <a:tr h="5020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Sonstige Einnahmen</a:t>
                      </a:r>
                      <a:endParaRPr lang="de-DE" sz="12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B: Grundbuchgebühren, Transfers EU-Budget; B, L/G: Dividenden, Zinsen</a:t>
                      </a:r>
                      <a:endParaRPr lang="de-DE" sz="12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1514083"/>
                  </a:ext>
                </a:extLst>
              </a:tr>
              <a:tr h="50203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b="1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Budgetsaldo</a:t>
                      </a:r>
                      <a:endParaRPr lang="de-DE" sz="1200" b="1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-23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-17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-1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-5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</a:pP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002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781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27F1F-5666-80F7-5427-E29D7969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5D2D-8E1B-7B8E-ACC1-496D853A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Struktur</a:t>
            </a:r>
            <a:r>
              <a:rPr lang="en-GB" dirty="0"/>
              <a:t> und </a:t>
            </a:r>
            <a:r>
              <a:rPr lang="en-GB" dirty="0" err="1"/>
              <a:t>Entwicklung</a:t>
            </a:r>
            <a:r>
              <a:rPr lang="en-GB" dirty="0"/>
              <a:t>: </a:t>
            </a:r>
            <a:r>
              <a:rPr lang="en-GB" dirty="0" err="1"/>
              <a:t>Förderungen</a:t>
            </a:r>
            <a:endParaRPr lang="en-GB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F55BF4A-2B54-C705-14F0-78ED3A328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818593"/>
              </p:ext>
            </p:extLst>
          </p:nvPr>
        </p:nvGraphicFramePr>
        <p:xfrm>
          <a:off x="220662" y="1027113"/>
          <a:ext cx="9102732" cy="56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643">
                  <a:extLst>
                    <a:ext uri="{9D8B030D-6E8A-4147-A177-3AD203B41FA5}">
                      <a16:colId xmlns:a16="http://schemas.microsoft.com/office/drawing/2014/main" val="3601689161"/>
                    </a:ext>
                  </a:extLst>
                </a:gridCol>
                <a:gridCol w="1150765">
                  <a:extLst>
                    <a:ext uri="{9D8B030D-6E8A-4147-A177-3AD203B41FA5}">
                      <a16:colId xmlns:a16="http://schemas.microsoft.com/office/drawing/2014/main" val="2346820396"/>
                    </a:ext>
                  </a:extLst>
                </a:gridCol>
                <a:gridCol w="1146814">
                  <a:extLst>
                    <a:ext uri="{9D8B030D-6E8A-4147-A177-3AD203B41FA5}">
                      <a16:colId xmlns:a16="http://schemas.microsoft.com/office/drawing/2014/main" val="3167269266"/>
                    </a:ext>
                  </a:extLst>
                </a:gridCol>
                <a:gridCol w="4771510">
                  <a:extLst>
                    <a:ext uri="{9D8B030D-6E8A-4147-A177-3AD203B41FA5}">
                      <a16:colId xmlns:a16="http://schemas.microsoft.com/office/drawing/2014/main" val="62145415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Mrd.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Erläuterungen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49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National gesamt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1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17,1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b="1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29,9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buNone/>
                      </a:pP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66833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Allgemeine öffentliche Verwaltung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1,6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Entwicklungshilfe, Grundlagenforschung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1767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Allgemeines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Aktive Arbeitsmarktpolitik, </a:t>
                      </a:r>
                      <a:r>
                        <a:rPr lang="de-D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Krisen-Subventionen</a:t>
                      </a:r>
                      <a:endParaRPr lang="de-DE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82220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Landwirtschaft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0,1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Anteil an 2. Säule Agrarpolitik, nationale Maßnahmen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25027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Energie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6,9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10,5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Ökostrom-Förderungen</a:t>
                      </a:r>
                      <a:r>
                        <a:rPr lang="de-D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Krisen-Subventionen</a:t>
                      </a:r>
                      <a:endParaRPr lang="de-DE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889057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Verkehr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2,7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3,5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Verkehrsbestellungen (ohne ÖBB, Wiener Linien), Klimaticket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55919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Forschung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0,8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Forschungsprämie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92259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Umweltschutz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0,8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1,8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Umweltförderungen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151408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Wohnungswesen und kommunale Gemeinschaftsdienste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0,9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Wohnbauförderung (ohne Kredite)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002458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Gesundheitswesen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1,4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2,0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Ordensspitäler, Kompensation nicht abziehbare Vorsteuer (GSBG)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44766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Freizeitgestaltung, Sport, Kultur und Religion</a:t>
                      </a:r>
                      <a:endParaRPr lang="de-D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2,2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Sport- und Kulturförderung</a:t>
                      </a:r>
                      <a:endParaRPr lang="de-D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752273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Bildungswesen</a:t>
                      </a:r>
                      <a:endParaRPr lang="de-DE" sz="10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0,8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1,3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Private Bildungseinrichtungen (v.a. Kinderbetreuung)</a:t>
                      </a:r>
                      <a:endParaRPr lang="de-DE" sz="10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7668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0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Soziale Sicherung</a:t>
                      </a:r>
                      <a:endParaRPr lang="de-DE" sz="100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>
                          <a:solidFill>
                            <a:srgbClr val="000000"/>
                          </a:solidFill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3,5</a:t>
                      </a:r>
                      <a:endParaRPr lang="de-AT" sz="140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400" dirty="0">
                          <a:effectLst/>
                          <a:latin typeface="Arial Unicode MS"/>
                          <a:cs typeface="Times New Roman" panose="02020603050405020304" pitchFamily="18" charset="0"/>
                        </a:rPr>
                        <a:t>5,1</a:t>
                      </a:r>
                      <a:endParaRPr lang="de-AT" sz="1400" dirty="0">
                        <a:effectLst/>
                        <a:latin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de-DE" sz="1000" b="1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Klimabonus</a:t>
                      </a:r>
                      <a:r>
                        <a:rPr lang="de-DE" sz="1000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private Sozialeinrichtungen</a:t>
                      </a:r>
                      <a:endParaRPr lang="de-DE" sz="1000" dirty="0">
                        <a:effectLst/>
                        <a:latin typeface="Arial Unicode M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77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199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D227C-A784-265D-7E39-AA0B69C82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A195-DABC-F481-61EA-2CD1D09A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Öffentliche</a:t>
            </a:r>
            <a:r>
              <a:rPr lang="en-GB" dirty="0"/>
              <a:t> </a:t>
            </a:r>
            <a:r>
              <a:rPr lang="en-GB" dirty="0" err="1"/>
              <a:t>Verschuldung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E9B1-C079-7BEC-D6A3-C76DC2C83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Staatsschulden</a:t>
            </a:r>
            <a:r>
              <a:rPr lang="de-DE" dirty="0"/>
              <a:t> umfassen alle Finanzschulden des Sektors Staat.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2000" dirty="0"/>
              <a:t>Gebietskörperschaften (Bund, Länder, Gemeinden)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2000" dirty="0"/>
              <a:t>Sozialversicherungsträger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2000" dirty="0"/>
              <a:t>Staatliche Unternehmen (v.a. ÖBB-Infrastruktur)</a:t>
            </a:r>
          </a:p>
          <a:p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Bruttoverschuldung: </a:t>
            </a:r>
            <a:r>
              <a:rPr lang="de-DE" dirty="0"/>
              <a:t>Öffentliches Vermögen wird nicht abgezogen.</a:t>
            </a:r>
          </a:p>
          <a:p>
            <a:endParaRPr lang="de-DE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Arten</a:t>
            </a:r>
            <a:r>
              <a:rPr lang="de-DE" dirty="0"/>
              <a:t> der öffentlichen Verschuldung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AT" sz="2000" dirty="0"/>
              <a:t>Finanzschulden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AT" sz="2000" dirty="0"/>
              <a:t>Verwaltungsschulden</a:t>
            </a:r>
          </a:p>
          <a:p>
            <a:pPr indent="-3600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AT" sz="2000" dirty="0"/>
              <a:t>Eventualverbindlichkeiten aus Haftungen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de-DE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Durchschnittliche Laufzeit</a:t>
            </a:r>
            <a:r>
              <a:rPr lang="de-DE" dirty="0"/>
              <a:t> der öffentlichen Verschuldung: 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11, 4 Jahre</a:t>
            </a:r>
          </a:p>
        </p:txBody>
      </p:sp>
    </p:spTree>
    <p:extLst>
      <p:ext uri="{BB962C8B-B14F-4D97-AF65-F5344CB8AC3E}">
        <p14:creationId xmlns:p14="http://schemas.microsoft.com/office/powerpoint/2010/main" val="187448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en-GB" dirty="0" err="1"/>
              <a:t>Haltestruktur</a:t>
            </a:r>
            <a:r>
              <a:rPr lang="en-GB" dirty="0"/>
              <a:t> der </a:t>
            </a:r>
            <a:r>
              <a:rPr lang="en-GB" dirty="0" err="1"/>
              <a:t>Staatsschuld</a:t>
            </a:r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B855C02-6937-1F5A-EBFE-941B1E10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6" y="1128081"/>
            <a:ext cx="9822968" cy="517333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5D597D3-9B2E-0A18-AF43-94AD84A46F4B}"/>
              </a:ext>
            </a:extLst>
          </p:cNvPr>
          <p:cNvSpPr txBox="1"/>
          <p:nvPr/>
        </p:nvSpPr>
        <p:spPr>
          <a:xfrm>
            <a:off x="41516" y="974192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%</a:t>
            </a:r>
          </a:p>
        </p:txBody>
      </p:sp>
    </p:spTree>
    <p:extLst>
      <p:ext uri="{BB962C8B-B14F-4D97-AF65-F5344CB8AC3E}">
        <p14:creationId xmlns:p14="http://schemas.microsoft.com/office/powerpoint/2010/main" val="415886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039E-29A8-33F8-543D-EFB235CC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8BF6-1F11-E8CD-DEAE-4A9C55CB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Öffentliche</a:t>
            </a:r>
            <a:r>
              <a:rPr lang="en-GB" dirty="0"/>
              <a:t> </a:t>
            </a:r>
            <a:r>
              <a:rPr lang="en-GB" dirty="0" err="1"/>
              <a:t>Verschuldung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3EFD39-014A-BA25-9074-5ACF2A343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3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3000" dirty="0"/>
                  <a:t> 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de-DE" sz="2000" dirty="0"/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000" dirty="0"/>
                  <a:t> … Staatschuld im Jahr </a:t>
                </a:r>
                <a:r>
                  <a:rPr lang="de-DE" sz="2000" i="1" dirty="0"/>
                  <a:t>t</a:t>
                </a:r>
                <a:r>
                  <a:rPr lang="de-DE" sz="2000" dirty="0"/>
                  <a:t>.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sz="2000" dirty="0"/>
                  <a:t> … Staatschuld im Vorjahr </a:t>
                </a:r>
                <a:r>
                  <a:rPr lang="de-DE" sz="2000" i="1" dirty="0"/>
                  <a:t>(t-1)</a:t>
                </a:r>
                <a:r>
                  <a:rPr lang="de-DE" sz="2000" dirty="0"/>
                  <a:t>.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000" dirty="0"/>
                  <a:t> … Nettodefizit (siehe Folie 5)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de-DE" sz="2000" dirty="0"/>
                  <a:t>Nicht explizit angeführt: Schuld-Defizit-Anpassungen, Bewertungseffekte</a:t>
                </a:r>
              </a:p>
              <a:p>
                <a:r>
                  <a:rPr lang="de-DE" dirty="0"/>
                  <a:t>Bruttokreditaufnahme (Bruttodefizit): Nettodefizit und Tilgungen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3EFD39-014A-BA25-9074-5ACF2A343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55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03BE-1595-C423-E0A2-865833B2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E623-016D-8212-117A-1650630C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Öffentliche</a:t>
            </a:r>
            <a:r>
              <a:rPr lang="en-GB" dirty="0"/>
              <a:t> </a:t>
            </a:r>
            <a:r>
              <a:rPr lang="en-GB" dirty="0" err="1"/>
              <a:t>Verschuldung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5DBE9-4028-78EE-8815-898ABB9A09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635" y="1027417"/>
                <a:ext cx="9586730" cy="5508850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sz="2800" i="1" dirty="0"/>
              </a:p>
              <a:p>
                <a:r>
                  <a:rPr lang="de-DE" dirty="0"/>
                  <a:t>In Quoten: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de-D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de-DE" sz="28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de-D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de-D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de-DE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de-DE" sz="2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de-DE" dirty="0"/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000" dirty="0"/>
                  <a:t> … Defizitquote (D/Y)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sz="2000" dirty="0"/>
                  <a:t> … Staatschuldenquote im Vorjahr </a:t>
                </a:r>
                <a:r>
                  <a:rPr lang="de-DE" sz="2000" i="1" dirty="0"/>
                  <a:t>(t-1)</a:t>
                </a:r>
                <a:endParaRPr lang="de-DE" sz="2000" dirty="0"/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de-DE" sz="2000" dirty="0"/>
                  <a:t> … Staatsausgabenquote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de-DE" sz="2000" dirty="0"/>
                  <a:t> … Einnahmenquote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2000" dirty="0"/>
                  <a:t> … durchschnittlicher Zinssatz auf Staatsanleihen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sz="2000">
                        <a:latin typeface="Cambria Math" panose="02040503050406030204" pitchFamily="18" charset="0"/>
                      </a:rPr>
                      <m:t>1+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e-DE" sz="2000" dirty="0"/>
                  <a:t> … Wachstumsfaktor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5DBE9-4028-78EE-8815-898ABB9A0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635" y="1027417"/>
                <a:ext cx="9586730" cy="5508850"/>
              </a:xfrm>
              <a:blipFill>
                <a:blip r:embed="rId2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22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AB78-708A-E7C1-7C66-E2C74A46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68E7-3F88-DE3F-09E0-FB3B0CAB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Budgetdefizit und Komponenten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95E3620-6307-2194-8B9B-2F26D16A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68" y="1196387"/>
            <a:ext cx="9315781" cy="488339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A10D9C7-88F3-DE9B-EC05-436A552D9246}"/>
              </a:ext>
            </a:extLst>
          </p:cNvPr>
          <p:cNvSpPr txBox="1"/>
          <p:nvPr/>
        </p:nvSpPr>
        <p:spPr>
          <a:xfrm>
            <a:off x="163618" y="1061040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des BIP</a:t>
            </a:r>
          </a:p>
        </p:txBody>
      </p:sp>
    </p:spTree>
    <p:extLst>
      <p:ext uri="{BB962C8B-B14F-4D97-AF65-F5344CB8AC3E}">
        <p14:creationId xmlns:p14="http://schemas.microsoft.com/office/powerpoint/2010/main" val="3836735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D483-C11D-7B46-A67B-3651A134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39C0-893F-7124-0E83-8E01ED78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Öffentliche</a:t>
            </a:r>
            <a:r>
              <a:rPr lang="en-GB" dirty="0"/>
              <a:t> </a:t>
            </a:r>
            <a:r>
              <a:rPr lang="en-GB" dirty="0" err="1"/>
              <a:t>Verschuldung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4CE89-8963-960E-90CF-2EA071588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sz="2800" dirty="0"/>
              </a:p>
              <a:p>
                <a:endParaRPr lang="de-DE" dirty="0"/>
              </a:p>
              <a:p>
                <a:r>
                  <a:rPr lang="de-DE" dirty="0"/>
                  <a:t>In Quoten:</a:t>
                </a:r>
                <a:endParaRPr lang="de-DE" sz="28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sz="28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de-AT" sz="28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AT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de-DE" sz="2800" dirty="0"/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de-DE" sz="2000" dirty="0"/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de-DE" sz="2000" dirty="0"/>
                  <a:t>Dynamische Gleichung in der Staatsschuld.</a:t>
                </a:r>
              </a:p>
              <a:p>
                <a:pPr indent="-3600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de-DE" sz="2000" dirty="0"/>
                  <a:t>Zins-Wachstumsdifferential (1+i)/(1+g): Schneeballeffekt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4CE89-8963-960E-90CF-2EA071588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019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B48-989C-8A8A-9356-A91CF382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49E5-A838-B927-5399-3403D1B2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Dynamik der Staatsschulden </a:t>
            </a:r>
            <a:r>
              <a:rPr lang="de-DE" cap="none" dirty="0"/>
              <a:t>(i &lt; g)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88423A7-3E8C-CAAF-5CBF-FD501EBE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2" y="1027417"/>
            <a:ext cx="7837544" cy="5508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154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655E-2D5F-DFD9-A47E-D921845F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7FAC-45E3-5141-6B3F-D05A0A48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Dynamik der Staatsschulden </a:t>
            </a:r>
            <a:r>
              <a:rPr lang="de-DE" cap="none" dirty="0"/>
              <a:t>(i &gt; g)</a:t>
            </a:r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FC74BA2-2B83-03C5-FF91-F0EDF47A1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11" y="1027417"/>
            <a:ext cx="6481447" cy="5508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3587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6872-A16B-209C-14DA-94829113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D4596-AE45-54C3-22CC-2DA68CE0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Zins- Wachstumsdifferential</a:t>
            </a:r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9538677-90B9-A266-62BA-33A835B97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53" y="1675445"/>
            <a:ext cx="9597247" cy="461381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067EFE1-64E5-0BEC-5DD4-98902656F9BE}"/>
              </a:ext>
            </a:extLst>
          </p:cNvPr>
          <p:cNvSpPr txBox="1"/>
          <p:nvPr/>
        </p:nvSpPr>
        <p:spPr>
          <a:xfrm>
            <a:off x="243274" y="1392077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%</a:t>
            </a:r>
          </a:p>
        </p:txBody>
      </p:sp>
    </p:spTree>
    <p:extLst>
      <p:ext uri="{BB962C8B-B14F-4D97-AF65-F5344CB8AC3E}">
        <p14:creationId xmlns:p14="http://schemas.microsoft.com/office/powerpoint/2010/main" val="1725308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1537-79B8-6C20-86EA-9F625524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8989-AE88-502C-A2F6-B870ADFA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Staatsschuldenquote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E173B97-1005-ED03-A953-94802C7F6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1" y="878333"/>
            <a:ext cx="8378393" cy="588905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C267803-2B63-D6E2-DD39-5788F2833FAA}"/>
              </a:ext>
            </a:extLst>
          </p:cNvPr>
          <p:cNvSpPr txBox="1"/>
          <p:nvPr/>
        </p:nvSpPr>
        <p:spPr>
          <a:xfrm>
            <a:off x="243274" y="771075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des BIP</a:t>
            </a:r>
          </a:p>
        </p:txBody>
      </p:sp>
    </p:spTree>
    <p:extLst>
      <p:ext uri="{BB962C8B-B14F-4D97-AF65-F5344CB8AC3E}">
        <p14:creationId xmlns:p14="http://schemas.microsoft.com/office/powerpoint/2010/main" val="2729098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9A24-5E09-1D22-6A06-18C8B5B3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ACD2-906E-B473-74CA-B68FD62B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Ausblick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2323-AA12-03AE-8E6F-2272F849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Hohe Staatsausgabenquote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Hohe Ausgaben für Gesundheit und Pensionen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Ausgabenseitige Förderungen in Krisenzeiten (Pandemie, Energiekrise)</a:t>
            </a:r>
          </a:p>
          <a:p>
            <a:pPr marL="0" indent="0">
              <a:buNone/>
            </a:pP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Herausforderungen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 Alterung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Klimawandel</a:t>
            </a:r>
          </a:p>
          <a:p>
            <a:pPr marL="0" indent="0">
              <a:buNone/>
            </a:pPr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Lösungsansätze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Effizienzsteigerungen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 dirty="0"/>
              <a:t>Bundesstaatsreform</a:t>
            </a:r>
          </a:p>
          <a:p>
            <a:pPr indent="-360000">
              <a:buFont typeface="Wingdings" panose="05000000000000000000" pitchFamily="2" charset="2"/>
              <a:buChar char="§"/>
            </a:pPr>
            <a:r>
              <a:rPr lang="de-DE"/>
              <a:t>Vermögensbezogene Steuern</a:t>
            </a:r>
            <a:endParaRPr lang="de-DE" dirty="0"/>
          </a:p>
          <a:p>
            <a:pPr indent="-360000">
              <a:buFont typeface="Wingdings" panose="05000000000000000000" pitchFamily="2" charset="2"/>
              <a:buChar char="§"/>
            </a:pPr>
            <a:endParaRPr lang="de-DE" dirty="0"/>
          </a:p>
          <a:p>
            <a:pPr indent="-360000">
              <a:buFont typeface="Wingdings" panose="05000000000000000000" pitchFamily="2" charset="2"/>
              <a:buChar char="§"/>
            </a:pPr>
            <a:endParaRPr lang="de-DE" dirty="0"/>
          </a:p>
          <a:p>
            <a:pPr lvl="1" indent="-3600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7927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Martin Zagler</a:t>
            </a:r>
          </a:p>
        </p:txBody>
      </p:sp>
    </p:spTree>
    <p:extLst>
      <p:ext uri="{BB962C8B-B14F-4D97-AF65-F5344CB8AC3E}">
        <p14:creationId xmlns:p14="http://schemas.microsoft.com/office/powerpoint/2010/main" val="294473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agler" id="{473D4577-068E-2945-9D16-5A4A3EBF9492}" vid="{7693B490-2BFF-F74E-844C-AE6B8469B8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zagler</Template>
  <TotalTime>0</TotalTime>
  <Words>1636</Words>
  <Application>Microsoft Office PowerPoint</Application>
  <PresentationFormat>A4-Papier (210 x 297 mm)</PresentationFormat>
  <Paragraphs>400</Paragraphs>
  <Slides>29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7" baseType="lpstr">
      <vt:lpstr>Arial Unicode MS</vt:lpstr>
      <vt:lpstr>Calibri</vt:lpstr>
      <vt:lpstr>Cambria Math</vt:lpstr>
      <vt:lpstr>Times New Roman</vt:lpstr>
      <vt:lpstr>Tw Cen MT</vt:lpstr>
      <vt:lpstr>Wingdings</vt:lpstr>
      <vt:lpstr>Wingdings 3</vt:lpstr>
      <vt:lpstr>Integral</vt:lpstr>
      <vt:lpstr>budgetpolitik</vt:lpstr>
      <vt:lpstr>Was Zählt zum sektor staat</vt:lpstr>
      <vt:lpstr>Bundesministerium für Finanzen (BMF)</vt:lpstr>
      <vt:lpstr>Budgetkreislauf</vt:lpstr>
      <vt:lpstr>Ziele der Budgetpolitik</vt:lpstr>
      <vt:lpstr>Allokationsziel</vt:lpstr>
      <vt:lpstr>Verteilungsziel</vt:lpstr>
      <vt:lpstr>Stabilitätsziel</vt:lpstr>
      <vt:lpstr>Ausrichtung der Fiskalpolik </vt:lpstr>
      <vt:lpstr>BudgetzielE</vt:lpstr>
      <vt:lpstr>VErwaltungsföderalismus</vt:lpstr>
      <vt:lpstr>Struktur der Staatsausgaben </vt:lpstr>
      <vt:lpstr>Struktur der Staatsausgaben </vt:lpstr>
      <vt:lpstr>Struktur und Entwicklung: Ausgaben</vt:lpstr>
      <vt:lpstr>Struktur der einnahmen</vt:lpstr>
      <vt:lpstr>Struktur der Einnahmen</vt:lpstr>
      <vt:lpstr>Struktur und Entwicklung: Förderungen</vt:lpstr>
      <vt:lpstr>Öffentliche Verschuldung</vt:lpstr>
      <vt:lpstr>Haltestruktur der Staatsschuld</vt:lpstr>
      <vt:lpstr>Öffentliche Verschuldung</vt:lpstr>
      <vt:lpstr>Öffentliche Verschuldung</vt:lpstr>
      <vt:lpstr>Budgetdefizit und Komponenten</vt:lpstr>
      <vt:lpstr>Öffentliche Verschuldung</vt:lpstr>
      <vt:lpstr>Dynamik der Staatsschulden (i &lt; g)</vt:lpstr>
      <vt:lpstr>Dynamik der Staatsschulden (i &gt; g)</vt:lpstr>
      <vt:lpstr>Zins- Wachstumsdifferential</vt:lpstr>
      <vt:lpstr>Staatsschuldenquote</vt:lpstr>
      <vt:lpstr>Ausblick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Martin Zagler</cp:lastModifiedBy>
  <cp:revision>466</cp:revision>
  <cp:lastPrinted>2020-02-11T10:51:13Z</cp:lastPrinted>
  <dcterms:created xsi:type="dcterms:W3CDTF">2019-07-29T16:55:56Z</dcterms:created>
  <dcterms:modified xsi:type="dcterms:W3CDTF">2025-12-22T13:49:56Z</dcterms:modified>
</cp:coreProperties>
</file>